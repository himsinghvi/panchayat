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749039"/>
            <a:ext cx="9144000" cy="3108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0332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</a:defRPr>
            </a:pPr>
            <a:r>
              <a:t>Panchaayat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BEAFE"/>
                </a:solidFill>
              </a:defRPr>
            </a:pPr>
            <a:r>
              <a:t>India's public record for consumer resolutions —</a:t>
            </a:r>
          </a:p>
          <a:p>
            <a:pPr algn="l">
              <a:defRPr sz="1800" b="0">
                <a:solidFill>
                  <a:srgbClr val="DBEAFE"/>
                </a:solidFill>
              </a:defRPr>
            </a:pPr>
            <a:r>
              <a:t>and case management SMEs can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Investor &amp; Partnership Pitch  •  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3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25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0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Fragmented complaints. No accountability. No closed loop.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201168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2648" y="1618488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286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Fragmented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651760"/>
            <a:ext cx="1645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Reviews, complaints &amp; grievances scattered across silos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17320"/>
            <a:ext cx="201168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07208" y="1618488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2286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No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651760"/>
            <a:ext cx="1645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Brands self-mark issues 'resolved' with no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417320"/>
            <a:ext cx="201168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01768" y="1618488"/>
            <a:ext cx="566928" cy="5669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286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Lost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651760"/>
            <a:ext cx="1645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SMEs bury customer queries in shared email inboxes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59" y="1417320"/>
            <a:ext cx="201168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96327" y="161848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2286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No Track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7" y="2651760"/>
            <a:ext cx="1645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Consumers can't see a brand's real resolution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160520"/>
            <a:ext cx="8321040" cy="1737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"I complained. They said 'resolved'. Nothing changed."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</a:defRPr>
            </a:pPr>
            <a:r>
              <a:t>Existing options (Google Reviews, NCH, MouthShut) never close the loop with the actual affected consumer.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14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2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14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14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3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14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4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14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5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14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6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30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Market Opportunity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India-first: huge consumer economy + underserved SME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229600" cy="389185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440680"/>
            <a:ext cx="8229600" cy="6858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Wedge: rank on '[Brand] complaints' SEO  +  affordable SME SaaS vs. Zendesk / Freshdesk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30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Solution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One platform — public reputation + private case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600200" y="2212848"/>
            <a:ext cx="3429000" cy="1673352"/>
          </a:xfrm>
          <a:prstGeom prst="line">
            <a:avLst/>
          </a:prstGeom>
          <a:ln w="2222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5029200" y="2212848"/>
            <a:ext cx="2423160" cy="1673352"/>
          </a:xfrm>
          <a:prstGeom prst="line">
            <a:avLst/>
          </a:prstGeom>
          <a:ln w="2222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600200" y="3886200"/>
            <a:ext cx="3429000" cy="1069848"/>
          </a:xfrm>
          <a:prstGeom prst="line">
            <a:avLst/>
          </a:prstGeom>
          <a:ln w="2222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5029200" y="3886200"/>
            <a:ext cx="2423160" cy="1069848"/>
          </a:xfrm>
          <a:prstGeom prst="line">
            <a:avLst/>
          </a:prstGeom>
          <a:ln w="2222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182880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Public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Complaints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828800"/>
            <a:ext cx="146304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Brand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1463040" cy="8229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SME Case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572000"/>
            <a:ext cx="1463040" cy="82296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+ API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</a:t>
            </a:r>
          </a:p>
        </p:txBody>
      </p:sp>
      <p:sp>
        <p:nvSpPr>
          <p:cNvPr id="12" name="Oval 11"/>
          <p:cNvSpPr/>
          <p:nvPr/>
        </p:nvSpPr>
        <p:spPr>
          <a:xfrm>
            <a:off x="4206240" y="3337560"/>
            <a:ext cx="1691640" cy="169164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Panchaayat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Make it visible.  Get it resolved.  Verified by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5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16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2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16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6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8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8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8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2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How It Works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Consumer-confirmed resolution — our core differentiator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2286000"/>
            <a:ext cx="960120" cy="9601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333756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Share</a:t>
            </a:r>
          </a:p>
          <a:p>
            <a:pPr algn="ctr">
              <a:defRPr sz="950" b="0">
                <a:solidFill>
                  <a:srgbClr val="64748B"/>
                </a:solidFill>
              </a:defRPr>
            </a:pPr>
            <a:r>
              <a:t>post + evidence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64208" y="2633472"/>
            <a:ext cx="548640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31720" y="2286000"/>
            <a:ext cx="960120" cy="9601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33756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Discuss</a:t>
            </a:r>
          </a:p>
          <a:p>
            <a:pPr algn="ctr">
              <a:defRPr sz="950" b="0">
                <a:solidFill>
                  <a:srgbClr val="64748B"/>
                </a:solidFill>
              </a:defRPr>
            </a:pPr>
            <a:r>
              <a:t>community + Me Too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55848" y="2633472"/>
            <a:ext cx="548640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23360" y="2286000"/>
            <a:ext cx="960120" cy="9601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33756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Respond</a:t>
            </a:r>
          </a:p>
          <a:p>
            <a:pPr algn="ctr">
              <a:defRPr sz="950" b="0">
                <a:solidFill>
                  <a:srgbClr val="64748B"/>
                </a:solidFill>
              </a:defRPr>
            </a:pPr>
            <a:r>
              <a:t>brand replies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47488" y="2633472"/>
            <a:ext cx="548640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0" y="2286000"/>
            <a:ext cx="960120" cy="9601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33756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Propose</a:t>
            </a:r>
          </a:p>
          <a:p>
            <a:pPr algn="ctr">
              <a:defRPr sz="950" b="0">
                <a:solidFill>
                  <a:srgbClr val="64748B"/>
                </a:solidFill>
              </a:defRPr>
            </a:pPr>
            <a:r>
              <a:t>refund / fix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39128" y="2633472"/>
            <a:ext cx="548640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06640" y="2286000"/>
            <a:ext cx="960120" cy="9601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33756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Confirm</a:t>
            </a:r>
          </a:p>
          <a:p>
            <a:pPr algn="ctr">
              <a:defRPr sz="950" b="0">
                <a:solidFill>
                  <a:srgbClr val="64748B"/>
                </a:solidFill>
              </a:defRPr>
            </a:pPr>
            <a:r>
              <a:t>only YOU close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8229600" cy="12801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</a:defRPr>
            </a:pPr>
            <a:r>
              <a:t>Brands cannot unilaterally close a complaint.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BEAFE"/>
                </a:solidFill>
              </a:defRPr>
            </a:pPr>
            <a:r>
              <a:t>The full, immutable resolution history stays public forever — that is the trust moat.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6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6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5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29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6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5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4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6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6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15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61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6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6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15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77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30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Product — MVP is Live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Full-stack platform, deployed and demo-ready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20116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2648" y="143560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1031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Complaint Wizard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688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AI draft + quality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234440"/>
            <a:ext cx="20116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07208" y="1435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21031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Smart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4688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NL queries + synonyms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234440"/>
            <a:ext cx="20116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01768" y="1435608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1031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Brand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4688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KPIs + complaint inbox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59" y="1234440"/>
            <a:ext cx="20116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96327" y="1435608"/>
            <a:ext cx="566928" cy="5669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21031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Resolution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7" y="24688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propose → confirm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926080"/>
            <a:ext cx="20116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12724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7947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Public 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1605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trending + resolved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2926080"/>
            <a:ext cx="20116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07208" y="31272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7208" y="37947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Contextual 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7208" y="41605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AI targeting, no bias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0600" y="2926080"/>
            <a:ext cx="20116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01768" y="3127248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7947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B2B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1768" y="41605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pricing + API docs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59" y="2926080"/>
            <a:ext cx="20116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96327" y="3127248"/>
            <a:ext cx="566928" cy="5669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7" y="37947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AI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6327" y="41605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Azure GPT + fallbacks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709160"/>
            <a:ext cx="8321040" cy="12344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6460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Live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285232"/>
            <a:ext cx="79552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github.com/himsinghvi/panchayat   •   login  admin / demo123   •   8 personas · 6 brands · seeded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3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9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9" dur="3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9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25" dur="3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9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31" dur="3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9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37" dur="3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9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43" dur="3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9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49" dur="3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9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55" dur="3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9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61" dur="3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9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67" dur="3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9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73" dur="3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9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79" dur="3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9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85" dur="3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9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91" dur="3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9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97" dur="3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9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03" dur="3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25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For Business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Turn a chaotic inbox into a case-management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ck_b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480560" cy="2987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20640" y="141732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44475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</a:defRPr>
            </a:pPr>
            <a:r>
              <a:t>Branded page  panchaayat.in/yourbrand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176272"/>
            <a:ext cx="566928" cy="5669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203703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</a:defRPr>
            </a:pPr>
            <a:r>
              <a:t>2-way email → case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935224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9626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</a:defRPr>
            </a:pPr>
            <a:r>
              <a:t>Case ID, status &amp; owner on every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694176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72160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</a:defRPr>
            </a:pPr>
            <a:r>
              <a:t>Private by default; public escalation if ignored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453128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48056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</a:defRPr>
            </a:pPr>
            <a:r>
              <a:t>CSAT / NPS + SLA 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5212079"/>
            <a:ext cx="566928" cy="5669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523951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0F172A"/>
                </a:solidFill>
              </a:defRPr>
            </a:pPr>
            <a:r>
              <a:t>14-day free trial, cancel anytime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8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11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24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11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30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11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11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42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1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48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11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54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11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60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11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6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11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72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1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78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11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84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SaaS Pricing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Simple, affordable plans for SMEs &amp; MSMEs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56032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Startup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₹1,999/mo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011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150 cases / mo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1 seat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Branded page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Email + SMS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560320" cy="4297680"/>
          </a:xfrm>
          <a:prstGeom prst="roundRect">
            <a:avLst/>
          </a:prstGeom>
          <a:solidFill>
            <a:srgbClr val="DBEAFE"/>
          </a:solidFill>
          <a:ln w="317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1261872"/>
            <a:ext cx="1371600" cy="32918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MOST POPULAR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Scale-up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₹3,999/mo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80360"/>
            <a:ext cx="2011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Unlimited cases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10 seats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Email → case sync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CSAT + social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256032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0020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₹5,999/mo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2011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Full REST API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White-label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AI triage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✓  Unlimited seats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All plans: no setup fee  •  30-day money-back  •  GST 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25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25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20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Business Model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Trust-first monetization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297680" cy="343644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92040" y="1463040"/>
            <a:ext cx="128016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44475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t>SaaS subscriptions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84708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primary revenue — Startup → Enterprise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423160"/>
            <a:ext cx="128016" cy="777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40487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t>Enterprise API &amp; white-label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80720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banks, insurers, telcos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3383280"/>
            <a:ext cx="128016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336499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t>Contextual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76732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legal aid, warranty, refund tools — never bias complaints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343400"/>
            <a:ext cx="128016" cy="7772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432511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t>Verified analytics (future)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72744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trends, benchmarks, researcher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5440680"/>
            <a:ext cx="3931920" cy="5486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CA5A5"/>
                </a:solidFill>
              </a:defRPr>
            </a:pPr>
            <a:r>
              <a:t>✗  We never let brands pay to remove complaints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5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9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9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9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9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9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9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9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9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9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9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9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25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7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Competitive Landscape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No incumbent owns the full resolution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8503920" cy="47440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Go-to-Market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Hyper-local density → national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457200" y="1417320"/>
            <a:ext cx="2057400" cy="173736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1</a:t>
            </a:r>
          </a:p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Seed Pune / Hyderabad</a:t>
            </a:r>
          </a:p>
          <a:p>
            <a:pPr algn="ctr">
              <a:defRPr sz="1150" b="1">
                <a:solidFill>
                  <a:srgbClr val="FFFFFF"/>
                </a:solidFill>
              </a:defRPr>
            </a:pPr>
            <a:r>
              <a:t>with demo brands</a:t>
            </a:r>
          </a:p>
        </p:txBody>
      </p:sp>
      <p:sp>
        <p:nvSpPr>
          <p:cNvPr id="5" name="Chevron 4"/>
          <p:cNvSpPr/>
          <p:nvPr/>
        </p:nvSpPr>
        <p:spPr>
          <a:xfrm>
            <a:off x="2606040" y="1417320"/>
            <a:ext cx="2057400" cy="1737360"/>
          </a:xfrm>
          <a:prstGeom prst="chevron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</a:t>
            </a:r>
          </a:p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SEO: '[Brand] complaints'</a:t>
            </a:r>
          </a:p>
          <a:p>
            <a:pPr algn="ctr">
              <a:defRPr sz="1150" b="1">
                <a:solidFill>
                  <a:srgbClr val="FFFFFF"/>
                </a:solidFill>
              </a:defRPr>
            </a:pPr>
            <a:r>
              <a:t>organic traffic</a:t>
            </a:r>
          </a:p>
        </p:txBody>
      </p:sp>
      <p:sp>
        <p:nvSpPr>
          <p:cNvPr id="6" name="Chevron 5"/>
          <p:cNvSpPr/>
          <p:nvPr/>
        </p:nvSpPr>
        <p:spPr>
          <a:xfrm>
            <a:off x="4754880" y="1417320"/>
            <a:ext cx="2057400" cy="1737360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</a:t>
            </a:r>
          </a:p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SME outbound —</a:t>
            </a:r>
          </a:p>
          <a:p>
            <a:pPr algn="ctr">
              <a:defRPr sz="1150" b="1">
                <a:solidFill>
                  <a:srgbClr val="FFFFFF"/>
                </a:solidFill>
              </a:defRPr>
            </a:pPr>
            <a:r>
              <a:t>D2C &amp; appliances</a:t>
            </a:r>
          </a:p>
        </p:txBody>
      </p:sp>
      <p:sp>
        <p:nvSpPr>
          <p:cNvPr id="7" name="Chevron 6"/>
          <p:cNvSpPr/>
          <p:nvPr/>
        </p:nvSpPr>
        <p:spPr>
          <a:xfrm>
            <a:off x="6903720" y="1417320"/>
            <a:ext cx="2057400" cy="1737360"/>
          </a:xfrm>
          <a:prstGeom prst="chevron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4</a:t>
            </a:r>
          </a:p>
          <a:p>
            <a:pPr algn="ctr">
              <a:defRPr sz="1150" b="1">
                <a:solidFill>
                  <a:srgbClr val="FFFFFF"/>
                </a:solidFill>
              </a:defRPr>
            </a:pPr>
            <a:r>
              <a:t>Enterprise API —</a:t>
            </a:r>
          </a:p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banks &amp; insurers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84448"/>
            <a:ext cx="7589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Viral growth via Me Too, trending &amp; recently-resolved feeds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07407"/>
            <a:ext cx="7589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14-day free trial converts SMEs; email-sync lock-in reduces churn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30368"/>
            <a:ext cx="7589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Roadmap: partner with NCH / E-Jagriti for escalations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2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2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1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1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1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1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1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Traction &amp; KPIs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Where we are today — and what we measure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9202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44751"/>
            <a:ext cx="1737360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8898"/>
            <a:ext cx="1737360" cy="4960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</a:defRPr>
            </a:pPr>
            <a:r>
              <a:t>Live &amp; deployed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280160"/>
            <a:ext cx="19202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444751"/>
            <a:ext cx="1737360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59E0B"/>
                </a:solidFill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158898"/>
            <a:ext cx="1737360" cy="4960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</a:defRPr>
            </a:pPr>
            <a:r>
              <a:t>Demo personas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19202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444751"/>
            <a:ext cx="1737360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10B981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58898"/>
            <a:ext cx="1737360" cy="4960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</a:defRPr>
            </a:pPr>
            <a:r>
              <a:t>Seeded brands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280160"/>
            <a:ext cx="19202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444751"/>
            <a:ext cx="1737360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6366F1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158898"/>
            <a:ext cx="1737360" cy="4960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</a:defRPr>
            </a:pPr>
            <a:r>
              <a:t>SaaS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North-star metrics we will report to investors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93008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Brand response &lt; 7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60520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78807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Consumer-confirmed resolution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64607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Median time-to-resolution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32120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50407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SME trial → paid conversion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16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2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16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5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9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9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9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9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9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9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9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Roadmap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12–18 month product &amp; GTM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8503920" cy="31968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Risks &amp; Mitigations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Honest assessment for investors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2103120" cy="77724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Defamation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06040" y="1536192"/>
            <a:ext cx="457200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280160"/>
            <a:ext cx="55321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250" b="0">
                <a:solidFill>
                  <a:srgbClr val="0F172A"/>
                </a:solidFill>
              </a:defRPr>
            </a:pPr>
            <a:r>
              <a:t>ToS, evidence requirement, takedown &amp; appeal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2103120" cy="777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Fake reviews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6040" y="2496312"/>
            <a:ext cx="457200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2240280"/>
            <a:ext cx="55321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250" b="0">
                <a:solidFill>
                  <a:srgbClr val="0F172A"/>
                </a:solidFill>
              </a:defRPr>
            </a:pPr>
            <a:r>
              <a:t>Verified-purchase signal + moderation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200400"/>
            <a:ext cx="210312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Cold start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3456432"/>
            <a:ext cx="457200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3200400"/>
            <a:ext cx="55321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250" b="0">
                <a:solidFill>
                  <a:srgbClr val="0F172A"/>
                </a:solidFill>
              </a:defRPr>
            </a:pPr>
            <a:r>
              <a:t>Hyper-local seeding + SEO complaint 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160520"/>
            <a:ext cx="210312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Brand apathy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06040" y="4416552"/>
            <a:ext cx="457200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4160520"/>
            <a:ext cx="55321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250" b="0">
                <a:solidFill>
                  <a:srgbClr val="0F172A"/>
                </a:solidFill>
              </a:defRPr>
            </a:pPr>
            <a:r>
              <a:t>Public pages rank on Google for '[brand] complaints'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120640"/>
            <a:ext cx="2103120" cy="7772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SME churn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06040" y="5376672"/>
            <a:ext cx="457200" cy="25603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5120640"/>
            <a:ext cx="55321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250" b="0">
                <a:solidFill>
                  <a:srgbClr val="0F172A"/>
                </a:solidFill>
              </a:defRPr>
            </a:pPr>
            <a:r>
              <a:t>Email-sync lock-in + 30-day money-back guarantee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•  2026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0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0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0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0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1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8046720" cy="1234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₹[X] Cr Seed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7568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</a:defRPr>
            </a:pPr>
            <a:r>
              <a:t>Customize this figure before presenting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8046720" cy="1234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</a:defRPr>
            </a:pPr>
            <a: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3872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</a:defRPr>
            </a:pPr>
            <a:r>
              <a:t>40% GTM &amp; Sales  •  30% Engineering  •  20% Ops &amp; Legal  •  10% Buffer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8046720" cy="1234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12-month 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01768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</a:defRPr>
            </a:pPr>
            <a:r>
              <a:t>100 paying SMEs   •   10K MAU   •   1 enterprise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Customize funding amount &amp; milestones before investor meetings</a:t>
            </a:r>
          </a:p>
        </p:txBody>
      </p:sp>
    </p:spTree>
  </p:cSld>
  <p:clrMapOvr>
    <a:masterClrMapping/>
  </p:clrMapOvr>
  <p:transition xmlns:p14="http://schemas.microsoft.com/office/powerpoint/2010/main" spd="med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20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14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8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8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2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Make it visible.  Get it resolved.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7863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BEAFE"/>
                </a:solidFill>
              </a:defRPr>
            </a:pPr>
            <a:r>
              <a:t>Demo:   [your-vercel-url].vercel.app</a:t>
            </a:r>
          </a:p>
          <a:p>
            <a:pPr algn="l">
              <a:defRPr sz="1600" b="0">
                <a:solidFill>
                  <a:srgbClr val="DBEAFE"/>
                </a:solidFill>
              </a:defRPr>
            </a:pPr>
            <a:r>
              <a:t>GitHub:  github.com/himsinghvi/panchayat</a:t>
            </a:r>
          </a:p>
          <a:p>
            <a:pPr algn="l">
              <a:defRPr sz="1600" b="0">
                <a:solidFill>
                  <a:srgbClr val="DBEAFE"/>
                </a:solidFill>
              </a:defRPr>
            </a:pPr>
            <a:r>
              <a:t>Email:   [founder@email.com]</a:t>
            </a:r>
          </a:p>
          <a:p>
            <a:pPr algn="l">
              <a:defRPr sz="1600" b="0">
                <a:solidFill>
                  <a:srgbClr val="DBEAFE"/>
                </a:solidFill>
              </a:defRPr>
            </a:pPr>
          </a:p>
          <a:p>
            <a:pPr algn="l">
              <a:defRPr sz="1600" b="0">
                <a:solidFill>
                  <a:srgbClr val="DBEAFE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 additive="base">
                                      <p:cBhvr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25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30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