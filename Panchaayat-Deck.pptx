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321040" y="3657599"/>
            <a:ext cx="4754880" cy="4754880"/>
          </a:xfrm>
          <a:prstGeom prst="ellipse">
            <a:avLst/>
          </a:prstGeom>
          <a:noFill/>
          <a:ln w="25400">
            <a:solidFill>
              <a:srgbClr val="1E2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61119" y="4297679"/>
            <a:ext cx="3474720" cy="3474720"/>
          </a:xfrm>
          <a:prstGeom prst="ellipse">
            <a:avLst/>
          </a:prstGeom>
          <a:noFill/>
          <a:ln w="25400">
            <a:solidFill>
              <a:srgbClr val="1E2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274552" y="1307592"/>
            <a:ext cx="128016" cy="128016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5349240"/>
            <a:ext cx="91440" cy="91440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95559" y="1783080"/>
            <a:ext cx="91440" cy="91440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644824"/>
            <a:ext cx="9144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spc="300" dirty="0">
                <a:solidFill>
                  <a:srgbClr val="0D9488"/>
                </a:solidFill>
                <a:latin typeface="Segoe UI"/>
              </a:rPr>
              <a:t>CONSUMER VOICE  ·  RESOLUTION  ·  TRUST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36237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0" b="1" dirty="0" err="1">
                <a:solidFill>
                  <a:srgbClr val="F3EEE6"/>
                </a:solidFill>
                <a:latin typeface="Georgia"/>
              </a:rPr>
              <a:t>Panchaayat</a:t>
            </a:r>
            <a:endParaRPr sz="7800" b="1" dirty="0">
              <a:solidFill>
                <a:srgbClr val="F3EEE6"/>
              </a:solidFill>
              <a:latin typeface="Georg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79" y="2913304"/>
            <a:ext cx="9144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0" dirty="0">
                <a:solidFill>
                  <a:srgbClr val="F26A4B"/>
                </a:solidFill>
                <a:latin typeface="Segoe U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343400"/>
            <a:ext cx="102412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3EEE6"/>
                </a:solidFill>
                <a:latin typeface="Segoe UI"/>
              </a:rPr>
              <a:t>India's public record for consumer resolutions —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F3EEE6"/>
                </a:solidFill>
                <a:latin typeface="Segoe UI"/>
              </a:rPr>
              <a:t>and the case-management system SMEs can trust.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5806440"/>
            <a:ext cx="1005840" cy="54864"/>
          </a:xfrm>
          <a:prstGeom prst="rect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5989320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spc="100">
                <a:solidFill>
                  <a:srgbClr val="7A7366"/>
                </a:solidFill>
                <a:latin typeface="Segoe UI"/>
              </a:rPr>
              <a:t>Investor &amp; Partnership Pitch   ·   2026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5A74F47-F3E0-601B-D13A-5747398D5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08" y="531927"/>
            <a:ext cx="1786619" cy="17866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12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2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2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15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5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Complaints go out. Resolutions never come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1965960"/>
            <a:ext cx="2487168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60704" y="2212848"/>
            <a:ext cx="658368" cy="658368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9260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133"/>
                </a:solidFill>
                <a:latin typeface="Georgia"/>
              </a:rPr>
              <a:t>Fragmented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310128"/>
            <a:ext cx="20482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A7366"/>
                </a:solidFill>
                <a:latin typeface="Segoe UI"/>
              </a:rPr>
              <a:t>Reviews, complaints &amp; grievances scattered across silos.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65960"/>
            <a:ext cx="2487168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785615" y="2212848"/>
            <a:ext cx="658368" cy="658368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29260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133"/>
                </a:solidFill>
                <a:latin typeface="Georgia"/>
              </a:rPr>
              <a:t>No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3310128"/>
            <a:ext cx="20482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A7366"/>
                </a:solidFill>
                <a:latin typeface="Segoe UI"/>
              </a:rPr>
              <a:t>Brands self-declare “resolved” with nothing to verify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965960"/>
            <a:ext cx="2487168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0528" y="2212848"/>
            <a:ext cx="658368" cy="658368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9260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133"/>
                </a:solidFill>
                <a:latin typeface="Georgia"/>
              </a:rPr>
              <a:t>Lost queries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3310128"/>
            <a:ext cx="20482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A7366"/>
                </a:solidFill>
                <a:latin typeface="Segoe UI"/>
              </a:rPr>
              <a:t>SMEs bury customer issues in a shared email inbox.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1965960"/>
            <a:ext cx="2487168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35440" y="2212848"/>
            <a:ext cx="658368" cy="6583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92608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133"/>
                </a:solidFill>
                <a:latin typeface="Georgia"/>
              </a:rPr>
              <a:t>No track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3310128"/>
            <a:ext cx="204825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A7366"/>
                </a:solidFill>
                <a:latin typeface="Segoe UI"/>
              </a:rPr>
              <a:t>Consumers can’t see a brand’s real resolution history.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72000"/>
            <a:ext cx="10533888" cy="141732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4736592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3EEE6"/>
                </a:solidFill>
                <a:latin typeface="Georgia"/>
              </a:rPr>
              <a:t>“I complained. They marked it resolved. Nothing actually changed.”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321808"/>
            <a:ext cx="9875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CCE9E5"/>
                </a:solidFill>
                <a:latin typeface="Segoe UI"/>
              </a:rPr>
              <a:t>Google Reviews, NCH and MouthShut all miss the one thing that matters — the affected consumer confirming it’s truly fixed.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02 / 16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044A817-2F25-72E5-84C9-16119F88E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15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5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15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25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One platform. Public reputation + private resolution.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2148840" y="2697480"/>
            <a:ext cx="3941064" cy="1280159"/>
          </a:xfrm>
          <a:prstGeom prst="line">
            <a:avLst/>
          </a:prstGeom>
          <a:ln w="2222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89904" y="2697480"/>
            <a:ext cx="3922776" cy="1280159"/>
          </a:xfrm>
          <a:prstGeom prst="line">
            <a:avLst/>
          </a:prstGeom>
          <a:ln w="2222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48840" y="3977639"/>
            <a:ext cx="3941064" cy="1280161"/>
          </a:xfrm>
          <a:prstGeom prst="line">
            <a:avLst/>
          </a:prstGeom>
          <a:ln w="2222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089904" y="3977639"/>
            <a:ext cx="3922776" cy="1280161"/>
          </a:xfrm>
          <a:prstGeom prst="line">
            <a:avLst/>
          </a:prstGeom>
          <a:ln w="2222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188720" y="2240280"/>
            <a:ext cx="19202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5400">
            <a:solidFill>
              <a:srgbClr val="F26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Public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complaints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240280"/>
            <a:ext cx="19202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5400">
            <a:solidFill>
              <a:srgbClr val="E0A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Brand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profiles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4800600"/>
            <a:ext cx="19202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SME case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59" y="4800600"/>
            <a:ext cx="19202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5400">
            <a:solidFill>
              <a:srgbClr val="6D5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AI + API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B2133"/>
                </a:solidFill>
                <a:latin typeface="Segoe UI"/>
              </a:rPr>
              <a:t>layer</a:t>
            </a:r>
          </a:p>
        </p:txBody>
      </p:sp>
      <p:sp>
        <p:nvSpPr>
          <p:cNvPr id="19" name="Oval 18"/>
          <p:cNvSpPr/>
          <p:nvPr/>
        </p:nvSpPr>
        <p:spPr>
          <a:xfrm>
            <a:off x="5157216" y="3044951"/>
            <a:ext cx="1865376" cy="186537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Georgia"/>
              </a:rPr>
              <a:t>Panchaayat</a:t>
            </a:r>
          </a:p>
        </p:txBody>
      </p:sp>
      <p:sp>
        <p:nvSpPr>
          <p:cNvPr id="20" name="Oval 19"/>
          <p:cNvSpPr/>
          <p:nvPr/>
        </p:nvSpPr>
        <p:spPr>
          <a:xfrm>
            <a:off x="5010912" y="2898648"/>
            <a:ext cx="2157984" cy="2157984"/>
          </a:xfrm>
          <a:prstGeom prst="ellipse">
            <a:avLst/>
          </a:prstGeom>
          <a:noFill/>
          <a:ln w="25400">
            <a:solidFill>
              <a:srgbClr val="F26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Georgia"/>
              </a:rPr>
              <a:t>Make it visible.   Get it resolved.   Verified by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03 / 16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118920A-31FD-8374-80D8-974E1D62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15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0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5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4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14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14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4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4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4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4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25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Only the consumer can close the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33271" y="2313432"/>
            <a:ext cx="1133856" cy="1133856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93591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133"/>
                </a:solidFill>
                <a:latin typeface="Georgia"/>
              </a:rPr>
              <a:t>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59" y="3977639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7A7366"/>
                </a:solidFill>
                <a:latin typeface="Segoe UI"/>
              </a:rPr>
              <a:t>post + evidence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58568" y="2779776"/>
            <a:ext cx="868680" cy="201168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273552" y="2313432"/>
            <a:ext cx="1133856" cy="1133856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593591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133"/>
                </a:solidFill>
                <a:latin typeface="Georgia"/>
              </a:rPr>
              <a:t>Discuss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977639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7A7366"/>
                </a:solidFill>
                <a:latin typeface="Segoe UI"/>
              </a:rPr>
              <a:t>community · Me Too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98848" y="2779776"/>
            <a:ext cx="868680" cy="201168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513832" y="2313432"/>
            <a:ext cx="1133856" cy="113385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593591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133"/>
                </a:solidFill>
                <a:latin typeface="Georgia"/>
              </a:rPr>
              <a:t>Respond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977639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7A7366"/>
                </a:solidFill>
                <a:latin typeface="Segoe UI"/>
              </a:rPr>
              <a:t>brand replies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39128" y="2779776"/>
            <a:ext cx="868680" cy="201168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754112" y="2313432"/>
            <a:ext cx="1133856" cy="1133856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593591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133"/>
                </a:solidFill>
                <a:latin typeface="Georgia"/>
              </a:rPr>
              <a:t>Propose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977639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7A7366"/>
                </a:solidFill>
                <a:latin typeface="Segoe UI"/>
              </a:rPr>
              <a:t>refund / repair / apology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79408" y="2779776"/>
            <a:ext cx="868680" cy="201168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94392" y="2313432"/>
            <a:ext cx="1133856" cy="113385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593591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133"/>
                </a:solidFill>
                <a:latin typeface="Georgia"/>
              </a:rPr>
              <a:t>Confirm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3977639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7A7366"/>
                </a:solidFill>
                <a:latin typeface="Segoe UI"/>
              </a:rPr>
              <a:t>only YOU close 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892040"/>
            <a:ext cx="10533888" cy="123444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88720" y="5029200"/>
            <a:ext cx="9966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E0A82E"/>
                </a:solidFill>
                <a:latin typeface="Georgia"/>
              </a:rPr>
              <a:t>Brands cannot unilaterally mark a complaint resolved.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532120"/>
            <a:ext cx="9966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CCE9E5"/>
                </a:solidFill>
                <a:latin typeface="Segoe UI"/>
              </a:rPr>
              <a:t>The full, immutable resolution history stays public forever — that permanence is the trust moat.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04 / 16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07A419A-C02F-0235-2108-23932A1D9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2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34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6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2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6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4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2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6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34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6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2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1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34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2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16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34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25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MARKET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India-first — a large, underserved wedge.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148840"/>
            <a:ext cx="7863840" cy="658368"/>
          </a:xfrm>
          <a:prstGeom prst="roundRect">
            <a:avLst>
              <a:gd name="adj" fmla="val 50000"/>
            </a:avLst>
          </a:prstGeom>
          <a:solidFill>
            <a:srgbClr val="F1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2148840"/>
            <a:ext cx="7470648" cy="658368"/>
          </a:xfrm>
          <a:prstGeom prst="roundRect">
            <a:avLst>
              <a:gd name="adj" fmla="val 50000"/>
            </a:avLst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167128"/>
            <a:ext cx="5943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Segoe UI"/>
              </a:rPr>
              <a:t>Indian MSMEs with no formal helpdesk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12140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133"/>
                </a:solidFill>
                <a:latin typeface="Georgia"/>
              </a:rPr>
              <a:t>63M+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200400"/>
            <a:ext cx="7863840" cy="658368"/>
          </a:xfrm>
          <a:prstGeom prst="roundRect">
            <a:avLst>
              <a:gd name="adj" fmla="val 50000"/>
            </a:avLst>
          </a:prstGeom>
          <a:solidFill>
            <a:srgbClr val="F1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" y="3200400"/>
            <a:ext cx="4325112" cy="658368"/>
          </a:xfrm>
          <a:prstGeom prst="roundRect">
            <a:avLst>
              <a:gd name="adj" fmla="val 50000"/>
            </a:avLst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218688"/>
            <a:ext cx="5943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Segoe UI"/>
              </a:rPr>
              <a:t>Consumer-complaint &amp; reputation search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7296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133"/>
                </a:solidFill>
                <a:latin typeface="Georgia"/>
              </a:rPr>
              <a:t>₹ Bn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251960"/>
            <a:ext cx="7863840" cy="658368"/>
          </a:xfrm>
          <a:prstGeom prst="roundRect">
            <a:avLst>
              <a:gd name="adj" fmla="val 50000"/>
            </a:avLst>
          </a:prstGeom>
          <a:solidFill>
            <a:srgbClr val="F1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4251960"/>
            <a:ext cx="6133795" cy="65836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270248"/>
            <a:ext cx="594360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Segoe UI"/>
              </a:rPr>
              <a:t>Global customer-experience software 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22452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133"/>
                </a:solidFill>
                <a:latin typeface="Georgia"/>
              </a:rPr>
              <a:t>$50B+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486400"/>
            <a:ext cx="10469880" cy="658368"/>
          </a:xfrm>
          <a:prstGeom prst="roundRect">
            <a:avLst>
              <a:gd name="adj" fmla="val 12000"/>
            </a:avLst>
          </a:prstGeom>
          <a:solidFill>
            <a:srgbClr val="CCE9E5"/>
          </a:solidFill>
          <a:ln w="1905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B2133"/>
                </a:solidFill>
                <a:latin typeface="Segoe UI"/>
              </a:rPr>
              <a:t>Wedge:  rank on “[Brand] complaints” search  +  SME SaaS priced far below Zendesk / Freshdesk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5074920"/>
            <a:ext cx="2468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7A7366"/>
                </a:solidFill>
                <a:latin typeface="Segoe UI"/>
              </a:rPr>
              <a:t>illustrative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05 / 16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B5E30AA-9A1E-4072-EED4-DE1BD7E48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2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12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1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12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1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25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PRODUCT — MVP IS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A full-stack platform, deployed and demo-ready.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196596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14983" y="2084831"/>
            <a:ext cx="530352" cy="530352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1226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Complaint wizard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71576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AI draft + quality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196596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739896" y="2084831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11226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Smart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271576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natural language + synonyms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96596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64808" y="2084831"/>
            <a:ext cx="530352" cy="530352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744" y="211226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Brand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1576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KPIs + complaint inbox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196596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189720" y="2084831"/>
            <a:ext cx="530352" cy="530352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11226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Resolution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7152" y="271576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propose → confirm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38328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14983" y="3502152"/>
            <a:ext cx="530352" cy="53035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352958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Public feed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" y="413308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trending + recently resolved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47872" y="338328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739896" y="3502152"/>
            <a:ext cx="530352" cy="530352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352958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Contextual ads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13308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AI targeting, never biased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2784" y="338328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64808" y="3502152"/>
            <a:ext cx="530352" cy="530352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5744" y="352958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B2B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13308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pricing + API docs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7696" y="3383280"/>
            <a:ext cx="2487168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189720" y="3502152"/>
            <a:ext cx="530352" cy="530352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0656" y="3529584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1">
                <a:solidFill>
                  <a:srgbClr val="1B2133"/>
                </a:solidFill>
                <a:latin typeface="Georgia"/>
              </a:rPr>
              <a:t>AI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4133088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A7366"/>
                </a:solidFill>
                <a:latin typeface="Segoe UI"/>
              </a:rPr>
              <a:t>Azure GPT + rule fallbacks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4956048"/>
            <a:ext cx="10533888" cy="1051560"/>
          </a:xfrm>
          <a:prstGeom prst="roundRect">
            <a:avLst>
              <a:gd name="adj" fmla="val 6000"/>
            </a:avLst>
          </a:prstGeom>
          <a:solidFill>
            <a:srgbClr val="12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43000" y="5047488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spc="200">
                <a:solidFill>
                  <a:srgbClr val="E0A82E"/>
                </a:solidFill>
                <a:latin typeface="Segoe UI"/>
              </a:rPr>
              <a:t>LIVE DEMO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539496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F3EEE6"/>
                </a:solidFill>
                <a:latin typeface="Segoe UI"/>
              </a:rPr>
              <a:t>github.com/himsinghvi/panchayat    ·    login  admin / demo123    ·    8 personas · 6 brands · seeded cases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06 / 16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4E98BEF7-4B5E-E563-DB48-6BD52768E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18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36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85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3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85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36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85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36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85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36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85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36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85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36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85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36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25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FOR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 dirty="0">
                <a:solidFill>
                  <a:srgbClr val="1B2133"/>
                </a:solidFill>
                <a:latin typeface="Georgia"/>
              </a:rPr>
              <a:t>Turn a chaotic inbox into a case-management 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011680"/>
            <a:ext cx="46634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68680" y="2011680"/>
            <a:ext cx="4663440" cy="6583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2084831"/>
            <a:ext cx="3200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Case #1042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157984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spc="100">
                <a:solidFill>
                  <a:srgbClr val="12172B"/>
                </a:solidFill>
                <a:latin typeface="Segoe UI"/>
              </a:rPr>
              <a:t>RESOLVED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036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7A7366"/>
                </a:solidFill>
                <a:latin typeface="Segoe UI"/>
              </a:rPr>
              <a:t>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80360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B2133"/>
                </a:solidFill>
                <a:latin typeface="Segoe UI"/>
              </a:rPr>
              <a:t>Priya S. · Pune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92424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7A7366"/>
                </a:solidFill>
                <a:latin typeface="Segoe UI"/>
              </a:rPr>
              <a:t>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392424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B2133"/>
                </a:solidFill>
                <a:latin typeface="Segoe UI"/>
              </a:rPr>
              <a:t>AC install delayed 3 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04487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7A7366"/>
                </a:solidFill>
                <a:latin typeface="Segoe UI"/>
              </a:rPr>
              <a:t>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904487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B2133"/>
                </a:solidFill>
                <a:latin typeface="Segoe UI"/>
              </a:rPr>
              <a:t>Vikram (support)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16552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7A7366"/>
                </a:solidFill>
                <a:latin typeface="Segoe U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416552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B2133"/>
                </a:solidFill>
                <a:latin typeface="Segoe UI"/>
              </a:rPr>
              <a:t>First reply 2h · closed 5d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928616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7A7366"/>
                </a:solidFill>
                <a:latin typeface="Segoe UI"/>
              </a:rPr>
              <a:t>Channel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928616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B2133"/>
                </a:solidFill>
                <a:latin typeface="Segoe UI"/>
              </a:rPr>
              <a:t>Email → auto-synced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40680"/>
            <a:ext cx="4114800" cy="201168"/>
          </a:xfrm>
          <a:prstGeom prst="roundRect">
            <a:avLst>
              <a:gd name="adj" fmla="val 50000"/>
            </a:avLst>
          </a:prstGeom>
          <a:solidFill>
            <a:srgbClr val="F1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43000" y="5440680"/>
            <a:ext cx="4114800" cy="20116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044183" y="2084831"/>
            <a:ext cx="438912" cy="438912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084831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Branded page  panchaayat.in/yourbrand</a:t>
            </a:r>
          </a:p>
        </p:txBody>
      </p:sp>
      <p:sp>
        <p:nvSpPr>
          <p:cNvPr id="29" name="Oval 28"/>
          <p:cNvSpPr/>
          <p:nvPr/>
        </p:nvSpPr>
        <p:spPr>
          <a:xfrm>
            <a:off x="6044183" y="2724911"/>
            <a:ext cx="438912" cy="43891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724911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Two-way email → case sync</a:t>
            </a:r>
          </a:p>
        </p:txBody>
      </p:sp>
      <p:sp>
        <p:nvSpPr>
          <p:cNvPr id="31" name="Oval 30"/>
          <p:cNvSpPr/>
          <p:nvPr/>
        </p:nvSpPr>
        <p:spPr>
          <a:xfrm>
            <a:off x="6044183" y="3364991"/>
            <a:ext cx="438912" cy="438912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364991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Case ID, status &amp; owner on every query</a:t>
            </a:r>
          </a:p>
        </p:txBody>
      </p:sp>
      <p:sp>
        <p:nvSpPr>
          <p:cNvPr id="33" name="Oval 32"/>
          <p:cNvSpPr/>
          <p:nvPr/>
        </p:nvSpPr>
        <p:spPr>
          <a:xfrm>
            <a:off x="6044183" y="4005071"/>
            <a:ext cx="438912" cy="438912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005071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Private by default; public escalation if ignored</a:t>
            </a:r>
          </a:p>
        </p:txBody>
      </p:sp>
      <p:sp>
        <p:nvSpPr>
          <p:cNvPr id="35" name="Oval 34"/>
          <p:cNvSpPr/>
          <p:nvPr/>
        </p:nvSpPr>
        <p:spPr>
          <a:xfrm>
            <a:off x="6044183" y="4645152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645152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CSAT / NPS + SLA dashboards</a:t>
            </a:r>
          </a:p>
        </p:txBody>
      </p:sp>
      <p:sp>
        <p:nvSpPr>
          <p:cNvPr id="37" name="Oval 36"/>
          <p:cNvSpPr/>
          <p:nvPr/>
        </p:nvSpPr>
        <p:spPr>
          <a:xfrm>
            <a:off x="6044183" y="5285231"/>
            <a:ext cx="438912" cy="438912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285231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14-day free trial · cancel anytime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07 / 16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DEAB4F2F-A466-99B3-3967-E2E7E5E26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20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1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1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1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1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11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SAAS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Simple, affordable plans for SMEs &amp; MSMEs.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417320" y="2148840"/>
            <a:ext cx="274320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91640" y="240487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D9488"/>
                </a:solidFill>
                <a:latin typeface="Georgia"/>
              </a:rPr>
              <a:t>Startup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80360"/>
            <a:ext cx="2194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1B2133"/>
                </a:solidFill>
                <a:latin typeface="Georgia"/>
              </a:rPr>
              <a:t>₹1,999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352044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per 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09928" y="3904487"/>
            <a:ext cx="2148840" cy="18288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09928" y="4023360"/>
            <a:ext cx="2240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150 cases / month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1 seat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Branded page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Email + SMS alerts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2011680"/>
            <a:ext cx="2743200" cy="3886200"/>
          </a:xfrm>
          <a:prstGeom prst="roundRect">
            <a:avLst>
              <a:gd name="adj" fmla="val 7000"/>
            </a:avLst>
          </a:prstGeom>
          <a:solidFill>
            <a:srgbClr val="12172B"/>
          </a:solidFill>
          <a:ln w="31750">
            <a:solidFill>
              <a:srgbClr val="F26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394959" y="1828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 spc="100">
                <a:solidFill>
                  <a:srgbClr val="FFFFFF"/>
                </a:solidFill>
                <a:latin typeface="Segoe UI"/>
              </a:rPr>
              <a:t>POPULAR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6771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26A4B"/>
                </a:solidFill>
                <a:latin typeface="Georgia"/>
              </a:rPr>
              <a:t>Scale-up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743200"/>
            <a:ext cx="2194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3EEE6"/>
                </a:solidFill>
                <a:latin typeface="Georgia"/>
              </a:rPr>
              <a:t>₹3,999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338328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CCE9E5"/>
                </a:solidFill>
                <a:latin typeface="Segoe UI"/>
              </a:rPr>
              <a:t>per month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10328" y="3767328"/>
            <a:ext cx="2148840" cy="18288"/>
          </a:xfrm>
          <a:prstGeom prst="rect">
            <a:avLst/>
          </a:prstGeom>
          <a:solidFill>
            <a:srgbClr val="1E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0328" y="3886200"/>
            <a:ext cx="2240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3EEE6"/>
                </a:solidFill>
                <a:latin typeface="Segoe UI"/>
              </a:rPr>
              <a:t>✓   Unlimited cases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3EEE6"/>
                </a:solidFill>
                <a:latin typeface="Segoe UI"/>
              </a:rPr>
              <a:t>✓   10 seats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3EEE6"/>
                </a:solidFill>
                <a:latin typeface="Segoe UI"/>
              </a:rPr>
              <a:t>✓   Email → case sync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3EEE6"/>
                </a:solidFill>
                <a:latin typeface="Segoe UI"/>
              </a:rPr>
              <a:t>✓   CSAT + social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2148840"/>
            <a:ext cx="2743200" cy="3611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2440" y="240487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6D5DD3"/>
                </a:solidFill>
                <a:latin typeface="Georgia"/>
              </a:rPr>
              <a:t>Enterprise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2880360"/>
            <a:ext cx="2194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1B2133"/>
                </a:solidFill>
                <a:latin typeface="Georgia"/>
              </a:rPr>
              <a:t>₹5,999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3520440"/>
            <a:ext cx="2194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per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0728" y="3904487"/>
            <a:ext cx="2148840" cy="18288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10728" y="4023360"/>
            <a:ext cx="2240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Full REST API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White-label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AI triage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B2133"/>
                </a:solidFill>
                <a:latin typeface="Segoe UI"/>
              </a:rPr>
              <a:t>✓   Unlimited seats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spc="100">
                <a:solidFill>
                  <a:srgbClr val="7A7366"/>
                </a:solidFill>
                <a:latin typeface="Segoe UI"/>
              </a:rPr>
              <a:t>No setup fee    ·    30-day money-back guarantee    ·    GST invoice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08 / 16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3D9BDA0-C425-FACB-BF62-2A1856B70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22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2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0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Trust-first monetization.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148840"/>
            <a:ext cx="5721858" cy="822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55%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7114" y="2148840"/>
            <a:ext cx="2580894" cy="822960"/>
          </a:xfrm>
          <a:prstGeom prst="roundRect">
            <a:avLst>
              <a:gd name="adj" fmla="val 6000"/>
            </a:avLst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44584" y="2148840"/>
            <a:ext cx="1219809" cy="822960"/>
          </a:xfrm>
          <a:prstGeom prst="roundRect">
            <a:avLst>
              <a:gd name="adj" fmla="val 6000"/>
            </a:avLst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12%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00969" y="2148840"/>
            <a:ext cx="801014" cy="822960"/>
          </a:xfrm>
          <a:prstGeom prst="roundRect">
            <a:avLst>
              <a:gd name="adj" fmla="val 6000"/>
            </a:avLst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8%</a:t>
            </a:r>
          </a:p>
        </p:txBody>
      </p:sp>
      <p:sp>
        <p:nvSpPr>
          <p:cNvPr id="15" name="Oval 14"/>
          <p:cNvSpPr/>
          <p:nvPr/>
        </p:nvSpPr>
        <p:spPr>
          <a:xfrm>
            <a:off x="868679" y="3474720"/>
            <a:ext cx="274320" cy="274320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80160" y="3410712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133"/>
                </a:solidFill>
                <a:latin typeface="Segoe UI"/>
              </a:rPr>
              <a:t>SaaS subscriptions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49039"/>
            <a:ext cx="4846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primary revenue — Startup → Enterprise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3474720"/>
            <a:ext cx="274320" cy="274320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3410712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133"/>
                </a:solidFill>
                <a:latin typeface="Segoe UI"/>
              </a:rPr>
              <a:t>Enterprise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749039"/>
            <a:ext cx="4846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banks, insurers, telcos</a:t>
            </a:r>
          </a:p>
        </p:txBody>
      </p:sp>
      <p:sp>
        <p:nvSpPr>
          <p:cNvPr id="21" name="Oval 20"/>
          <p:cNvSpPr/>
          <p:nvPr/>
        </p:nvSpPr>
        <p:spPr>
          <a:xfrm>
            <a:off x="868679" y="4343400"/>
            <a:ext cx="274320" cy="274320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0160" y="4279392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133"/>
                </a:solidFill>
                <a:latin typeface="Segoe UI"/>
              </a:rPr>
              <a:t>Contextual 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17720"/>
            <a:ext cx="4846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legal aid · warranty · refund tools</a:t>
            </a:r>
          </a:p>
        </p:txBody>
      </p:sp>
      <p:sp>
        <p:nvSpPr>
          <p:cNvPr id="24" name="Oval 23"/>
          <p:cNvSpPr/>
          <p:nvPr/>
        </p:nvSpPr>
        <p:spPr>
          <a:xfrm>
            <a:off x="6355080" y="4343400"/>
            <a:ext cx="274320" cy="274320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279392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133"/>
                </a:solidFill>
                <a:latin typeface="Segoe UI"/>
              </a:rPr>
              <a:t>Analytics (future)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617720"/>
            <a:ext cx="4846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A7366"/>
                </a:solidFill>
                <a:latin typeface="Segoe UI"/>
              </a:rPr>
              <a:t>benchmarks · researcher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349240"/>
            <a:ext cx="10469880" cy="685800"/>
          </a:xfrm>
          <a:prstGeom prst="roundRect">
            <a:avLst>
              <a:gd name="adj" fmla="val 10000"/>
            </a:avLst>
          </a:prstGeom>
          <a:solidFill>
            <a:srgbClr val="12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9D8CF"/>
                </a:solidFill>
                <a:latin typeface="Segoe UI"/>
              </a:rPr>
              <a:t>✗   We never let brands pay to remove or bury a legitimate complaint.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09 / 16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7055278-3194-5744-AB07-D03B068DC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15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1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30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COMPETITIVE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No incumbent owns the full resolution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94760" y="1764791"/>
            <a:ext cx="14813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Google</a:t>
            </a:r>
          </a:p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088" y="1764791"/>
            <a:ext cx="14813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MouthShut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57416" y="1764791"/>
            <a:ext cx="14813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NCH /</a:t>
            </a:r>
          </a:p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E-Jagriti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1764791"/>
            <a:ext cx="14813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100" b="0">
                <a:solidFill>
                  <a:srgbClr val="1B2133"/>
                </a:solidFill>
                <a:latin typeface="Segoe UI"/>
              </a:rPr>
              <a:t>Zendesk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4936" y="1764791"/>
            <a:ext cx="1371600" cy="3977639"/>
          </a:xfrm>
          <a:prstGeom prst="roundRect">
            <a:avLst>
              <a:gd name="adj" fmla="val 10000"/>
            </a:avLst>
          </a:prstGeom>
          <a:solidFill>
            <a:srgbClr val="CC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20072" y="1764791"/>
            <a:ext cx="14813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100" b="1">
                <a:solidFill>
                  <a:srgbClr val="0F766E"/>
                </a:solidFill>
                <a:latin typeface="Segoe UI"/>
              </a:rPr>
              <a:t>Panchaayat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33172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B2133"/>
                </a:solidFill>
                <a:latin typeface="Segoe UI"/>
              </a:rPr>
              <a:t>Public discussion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33172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7A7366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33172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7A7366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7416" y="233172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33172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2331720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Segoe U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980944"/>
            <a:ext cx="10424160" cy="10972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2990087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B2133"/>
                </a:solidFill>
                <a:latin typeface="Segoe UI"/>
              </a:rPr>
              <a:t>Resolution 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2990087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2990087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7A7366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57416" y="2990087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2990087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2990087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Segoe U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3639311"/>
            <a:ext cx="10424160" cy="10972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3648456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B2133"/>
                </a:solidFill>
                <a:latin typeface="Segoe UI"/>
              </a:rPr>
              <a:t>Consumer confirms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3648456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3648456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7416" y="3648456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8744" y="3648456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0072" y="3648456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Segoe U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4297680"/>
            <a:ext cx="10424160" cy="10972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8680" y="4306824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B2133"/>
                </a:solidFill>
                <a:latin typeface="Segoe UI"/>
              </a:rPr>
              <a:t>SME case mgmt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306824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6088" y="4306824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57416" y="4306824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38744" y="4306824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7A7366"/>
                </a:solidFill>
                <a:latin typeface="Segoe U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0072" y="4306824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Segoe U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4956048"/>
            <a:ext cx="10424160" cy="10972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8680" y="4965192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B2133"/>
                </a:solidFill>
                <a:latin typeface="Segoe UI"/>
              </a:rPr>
              <a:t>India-first SEO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4965192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76088" y="4965192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4965192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38744" y="4965192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3DACC"/>
                </a:solidFill>
                <a:latin typeface="Segoe UI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20072" y="4965192"/>
            <a:ext cx="14813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F766E"/>
                </a:solidFill>
                <a:latin typeface="Segoe U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" y="5614416"/>
            <a:ext cx="10424160" cy="10972"/>
          </a:xfrm>
          <a:prstGeom prst="rect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10 / 16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1A0E6A8-DA95-9104-0239-5663F8EDB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Hyper-local density → national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hevron 10"/>
          <p:cNvSpPr/>
          <p:nvPr/>
        </p:nvSpPr>
        <p:spPr>
          <a:xfrm>
            <a:off x="868680" y="2057400"/>
            <a:ext cx="2697480" cy="1600200"/>
          </a:xfrm>
          <a:prstGeom prst="chevron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Phase 1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Seed Pune &amp;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Hyderabad</a:t>
            </a:r>
          </a:p>
        </p:txBody>
      </p:sp>
      <p:sp>
        <p:nvSpPr>
          <p:cNvPr id="12" name="Chevron 11"/>
          <p:cNvSpPr/>
          <p:nvPr/>
        </p:nvSpPr>
        <p:spPr>
          <a:xfrm>
            <a:off x="3566160" y="2057400"/>
            <a:ext cx="2697480" cy="1600200"/>
          </a:xfrm>
          <a:prstGeom prst="chevron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Phase 2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SEO: “[brand]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complaints”</a:t>
            </a:r>
          </a:p>
        </p:txBody>
      </p:sp>
      <p:sp>
        <p:nvSpPr>
          <p:cNvPr id="13" name="Chevron 12"/>
          <p:cNvSpPr/>
          <p:nvPr/>
        </p:nvSpPr>
        <p:spPr>
          <a:xfrm>
            <a:off x="6263640" y="2057400"/>
            <a:ext cx="2697480" cy="16002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Phase 3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SME outbound —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D2C &amp; appliances</a:t>
            </a:r>
          </a:p>
        </p:txBody>
      </p:sp>
      <p:sp>
        <p:nvSpPr>
          <p:cNvPr id="14" name="Chevron 13"/>
          <p:cNvSpPr/>
          <p:nvPr/>
        </p:nvSpPr>
        <p:spPr>
          <a:xfrm>
            <a:off x="8961120" y="2057400"/>
            <a:ext cx="2697480" cy="1600200"/>
          </a:xfrm>
          <a:prstGeom prst="chevron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Phase 4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Enterprise API —</a:t>
            </a:r>
          </a:p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banks &amp; insurers</a:t>
            </a:r>
          </a:p>
        </p:txBody>
      </p:sp>
      <p:sp>
        <p:nvSpPr>
          <p:cNvPr id="15" name="Oval 14"/>
          <p:cNvSpPr/>
          <p:nvPr/>
        </p:nvSpPr>
        <p:spPr>
          <a:xfrm>
            <a:off x="950976" y="4187952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206240"/>
            <a:ext cx="9509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B2133"/>
                </a:solidFill>
                <a:latin typeface="Segoe UI"/>
              </a:rPr>
              <a:t>Viral growth via Me Too, trending &amp; recently-resolved feeds</a:t>
            </a:r>
          </a:p>
        </p:txBody>
      </p:sp>
      <p:sp>
        <p:nvSpPr>
          <p:cNvPr id="17" name="Oval 16"/>
          <p:cNvSpPr/>
          <p:nvPr/>
        </p:nvSpPr>
        <p:spPr>
          <a:xfrm>
            <a:off x="950976" y="4846320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64607"/>
            <a:ext cx="9509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B2133"/>
                </a:solidFill>
                <a:latin typeface="Segoe UI"/>
              </a:rPr>
              <a:t>Free trial converts SMEs; email-sync lock-in curbs churn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5504688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5522975"/>
            <a:ext cx="9509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1B2133"/>
                </a:solidFill>
                <a:latin typeface="Segoe UI"/>
              </a:rPr>
              <a:t>Roadmap: partner with NCH / E-Jagriti for escalations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11 / 16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64562C-E798-54A7-13AC-D2793950F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20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20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2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18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12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12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TRACTION &amp; KPIS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Where we are today — and what we measure.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01168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121408"/>
            <a:ext cx="2423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0D9488"/>
                </a:solidFill>
                <a:latin typeface="Georgia"/>
              </a:rPr>
              <a:t>MVP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2423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A7366"/>
                </a:solidFill>
                <a:latin typeface="Segoe UI"/>
              </a:rPr>
              <a:t>live &amp; deployed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39" y="201168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26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39" y="2121408"/>
            <a:ext cx="2423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26A4B"/>
                </a:solidFill>
                <a:latin typeface="Georgia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39" y="2889504"/>
            <a:ext cx="2423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A7366"/>
                </a:solidFill>
                <a:latin typeface="Segoe UI"/>
              </a:rPr>
              <a:t>demo personas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01168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E0A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121408"/>
            <a:ext cx="2423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E0A82E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889504"/>
            <a:ext cx="2423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A7366"/>
                </a:solidFill>
                <a:latin typeface="Segoe UI"/>
              </a:rPr>
              <a:t>seeded brands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59" y="201168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D5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59" y="2121408"/>
            <a:ext cx="2423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6D5DD3"/>
                </a:solidFill>
                <a:latin typeface="Georg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59" y="2889504"/>
            <a:ext cx="2423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A7366"/>
                </a:solidFill>
                <a:latin typeface="Segoe UI"/>
              </a:rPr>
              <a:t>SaaS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0332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133"/>
                </a:solidFill>
                <a:latin typeface="Georgia"/>
              </a:rPr>
              <a:t>North-star metrics we will report</a:t>
            </a:r>
          </a:p>
        </p:txBody>
      </p:sp>
      <p:sp>
        <p:nvSpPr>
          <p:cNvPr id="24" name="Oval 23"/>
          <p:cNvSpPr/>
          <p:nvPr/>
        </p:nvSpPr>
        <p:spPr>
          <a:xfrm>
            <a:off x="969264" y="4187952"/>
            <a:ext cx="402336" cy="402336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178807"/>
            <a:ext cx="9601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Brand response under 7 days</a:t>
            </a:r>
          </a:p>
        </p:txBody>
      </p:sp>
      <p:sp>
        <p:nvSpPr>
          <p:cNvPr id="26" name="Oval 25"/>
          <p:cNvSpPr/>
          <p:nvPr/>
        </p:nvSpPr>
        <p:spPr>
          <a:xfrm>
            <a:off x="969264" y="4736592"/>
            <a:ext cx="402336" cy="40233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727447"/>
            <a:ext cx="9601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Consumer-confirmed resolution rate</a:t>
            </a:r>
          </a:p>
        </p:txBody>
      </p:sp>
      <p:sp>
        <p:nvSpPr>
          <p:cNvPr id="28" name="Oval 27"/>
          <p:cNvSpPr/>
          <p:nvPr/>
        </p:nvSpPr>
        <p:spPr>
          <a:xfrm>
            <a:off x="969264" y="5285232"/>
            <a:ext cx="402336" cy="402336"/>
          </a:xfrm>
          <a:prstGeom prst="ellipse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276088"/>
            <a:ext cx="9601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Median time-to-resolution</a:t>
            </a:r>
          </a:p>
        </p:txBody>
      </p:sp>
      <p:sp>
        <p:nvSpPr>
          <p:cNvPr id="30" name="Oval 29"/>
          <p:cNvSpPr/>
          <p:nvPr/>
        </p:nvSpPr>
        <p:spPr>
          <a:xfrm>
            <a:off x="969264" y="5833872"/>
            <a:ext cx="402336" cy="402336"/>
          </a:xfrm>
          <a:prstGeom prst="ellipse">
            <a:avLst/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824727"/>
            <a:ext cx="9601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133"/>
                </a:solidFill>
                <a:latin typeface="Segoe UI"/>
              </a:rPr>
              <a:t>SME trial → paid conversion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12 / 16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6E47D0D-69F6-8BCD-50DD-930CC6A5D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4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15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44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5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4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15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4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15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9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9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9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A 12–18 month product &amp; GTM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3776472"/>
            <a:ext cx="97840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08176" y="3648456"/>
            <a:ext cx="292608" cy="292608"/>
          </a:xfrm>
          <a:prstGeom prst="ellipse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59" y="224028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1343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26A4B"/>
                </a:solidFill>
                <a:latin typeface="Georgia"/>
              </a:rPr>
              <a:t>Q2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679192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10 SME pilots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Postgres + PWA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554480" y="3246120"/>
            <a:ext cx="0" cy="548640"/>
          </a:xfrm>
          <a:prstGeom prst="line">
            <a:avLst/>
          </a:prstGeom>
          <a:ln w="1587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694176" y="3648456"/>
            <a:ext cx="292608" cy="29260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80360" y="43434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441655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Georgia"/>
              </a:rPr>
              <a:t>Q3 ’26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82312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Email→case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Hindi UI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40480" y="3794760"/>
            <a:ext cx="0" cy="548640"/>
          </a:xfrm>
          <a:prstGeom prst="line">
            <a:avLst/>
          </a:prstGeom>
          <a:ln w="1587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980176" y="3648456"/>
            <a:ext cx="292608" cy="29260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166360" y="224028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80" y="231343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Georgia"/>
              </a:rPr>
              <a:t>Q4 ’26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679192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Social listening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100 paying SMEs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26480" y="3246120"/>
            <a:ext cx="0" cy="548640"/>
          </a:xfrm>
          <a:prstGeom prst="line">
            <a:avLst/>
          </a:prstGeom>
          <a:ln w="1587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266175" y="3648456"/>
            <a:ext cx="292608" cy="29260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52359" y="434340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79" y="441655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Georgia"/>
              </a:rPr>
              <a:t>Q1 ’27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4782312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Enterprise API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5 logos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12480" y="3794760"/>
            <a:ext cx="0" cy="548640"/>
          </a:xfrm>
          <a:prstGeom prst="line">
            <a:avLst/>
          </a:prstGeom>
          <a:ln w="1587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0552176" y="3648456"/>
            <a:ext cx="292608" cy="29260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738359" y="2240280"/>
            <a:ext cx="19202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84080" y="2313432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Georgia"/>
              </a:rPr>
              <a:t>Q2 ’27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2679192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Mobile apps</a:t>
            </a:r>
          </a:p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7A7366"/>
                </a:solidFill>
                <a:latin typeface="Segoe UI"/>
              </a:rPr>
              <a:t>Tier-2 cities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10698480" y="3246120"/>
            <a:ext cx="0" cy="548640"/>
          </a:xfrm>
          <a:prstGeom prst="line">
            <a:avLst/>
          </a:prstGeom>
          <a:ln w="15875">
            <a:solidFill>
              <a:srgbClr val="E3D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13 / 16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FB3CF6B-16E8-65B7-2F89-232CD92A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15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3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1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1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38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11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3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11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38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11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3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11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38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11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38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11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38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11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38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234440" y="4572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spc="300">
                <a:solidFill>
                  <a:srgbClr val="0D9488"/>
                </a:solidFill>
                <a:latin typeface="Segoe UI"/>
              </a:rPr>
              <a:t>RISKS &amp; MITIGATIONS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84124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1B2133"/>
                </a:solidFill>
                <a:latin typeface="Georgia"/>
              </a:rPr>
              <a:t>An honest assessment for investors.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664208"/>
            <a:ext cx="777240" cy="502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011680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DC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Georgia"/>
              </a:rPr>
              <a:t>Defamation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0440" y="2212848"/>
            <a:ext cx="457200" cy="219456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60520" y="2011680"/>
            <a:ext cx="717804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50" b="0">
                <a:solidFill>
                  <a:srgbClr val="1B2133"/>
                </a:solidFill>
                <a:latin typeface="Segoe UI"/>
              </a:rPr>
              <a:t>   Clear ToS · evidence requirement · takedown &amp; appeal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816352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Georgia"/>
              </a:rPr>
              <a:t>Fake reviews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017520"/>
            <a:ext cx="457200" cy="219456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160520" y="2816352"/>
            <a:ext cx="717804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50" b="0">
                <a:solidFill>
                  <a:srgbClr val="1B2133"/>
                </a:solidFill>
                <a:latin typeface="Segoe UI"/>
              </a:rPr>
              <a:t>   Verified-purchase signal + active moderation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621024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Georgia"/>
              </a:rPr>
              <a:t>Cold start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20440" y="3822191"/>
            <a:ext cx="457200" cy="219456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60520" y="3621024"/>
            <a:ext cx="717804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50" b="0">
                <a:solidFill>
                  <a:srgbClr val="1B2133"/>
                </a:solidFill>
                <a:latin typeface="Segoe UI"/>
              </a:rPr>
              <a:t>   Hyper-local seeding + SEO complaint pages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25696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Georgia"/>
              </a:rPr>
              <a:t>Brand apathy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20440" y="4626864"/>
            <a:ext cx="457200" cy="219456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160520" y="4425696"/>
            <a:ext cx="717804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50" b="0">
                <a:solidFill>
                  <a:srgbClr val="1B2133"/>
                </a:solidFill>
                <a:latin typeface="Segoe UI"/>
              </a:rPr>
              <a:t>   Public pages rank for “[brand] complaints” on Google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230368"/>
            <a:ext cx="2514600" cy="621792"/>
          </a:xfrm>
          <a:prstGeom prst="roundRect">
            <a:avLst>
              <a:gd name="adj" fmla="val 12000"/>
            </a:avLst>
          </a:prstGeom>
          <a:solidFill>
            <a:srgbClr val="6D5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Georgia"/>
              </a:rPr>
              <a:t>SME churn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20440" y="5431536"/>
            <a:ext cx="457200" cy="219456"/>
          </a:xfrm>
          <a:prstGeom prst="rightArrow">
            <a:avLst/>
          </a:prstGeom>
          <a:solidFill>
            <a:srgbClr val="E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160520" y="5230368"/>
            <a:ext cx="717804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3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50" b="0">
                <a:solidFill>
                  <a:srgbClr val="1B2133"/>
                </a:solidFill>
                <a:latin typeface="Segoe UI"/>
              </a:rPr>
              <a:t>   Email-sync lock-in + 30-day money-back guarantee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7A736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7A7366"/>
                </a:solidFill>
                <a:latin typeface="Segoe UI"/>
              </a:rPr>
              <a:t>14 / 16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17745E6-AE22-A0B0-5570-C7D5F2290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0" y="368133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5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5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0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9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9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9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9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9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9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9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4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9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4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69680" y="-1188719"/>
            <a:ext cx="4206240" cy="4206240"/>
          </a:xfrm>
          <a:prstGeom prst="ellipse">
            <a:avLst/>
          </a:prstGeom>
          <a:noFill/>
          <a:ln w="25400">
            <a:solidFill>
              <a:srgbClr val="1E2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658368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spc="300">
                <a:solidFill>
                  <a:srgbClr val="0D9488"/>
                </a:solidFill>
                <a:latin typeface="Segoe UI"/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3EEE6"/>
                </a:solidFill>
                <a:latin typeface="Georgia"/>
              </a:rPr>
              <a:t>Partner with us to build the trust layer.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468880"/>
            <a:ext cx="10607040" cy="1051560"/>
          </a:xfrm>
          <a:prstGeom prst="roundRect">
            <a:avLst>
              <a:gd name="adj" fmla="val 8000"/>
            </a:avLst>
          </a:prstGeom>
          <a:solidFill>
            <a:srgbClr val="1E253F"/>
          </a:solidFill>
          <a:ln w="25400">
            <a:solidFill>
              <a:srgbClr val="F26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468880"/>
            <a:ext cx="109728" cy="1051560"/>
          </a:xfrm>
          <a:prstGeom prst="rect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2606040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26A4B"/>
                </a:solidFill>
                <a:latin typeface="Georgia"/>
              </a:rPr>
              <a:t>₹ [X] Cr seed 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07238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3EEE6"/>
                </a:solidFill>
                <a:latin typeface="Segoe UI"/>
              </a:rPr>
              <a:t>Customize this figure before presenting.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03320"/>
            <a:ext cx="10607040" cy="1051560"/>
          </a:xfrm>
          <a:prstGeom prst="roundRect">
            <a:avLst>
              <a:gd name="adj" fmla="val 8000"/>
            </a:avLst>
          </a:prstGeom>
          <a:solidFill>
            <a:srgbClr val="1E253F"/>
          </a:solidFill>
          <a:ln w="254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3703320"/>
            <a:ext cx="109728" cy="1051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840480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D9488"/>
                </a:solidFill>
                <a:latin typeface="Georgia"/>
              </a:rPr>
              <a:t>Use of funds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30682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3EEE6"/>
                </a:solidFill>
                <a:latin typeface="Segoe UI"/>
              </a:rPr>
              <a:t>40% GTM &amp; sales   ·   30% engineering   ·   20% ops &amp; legal   ·   10% buffer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937760"/>
            <a:ext cx="10607040" cy="1051560"/>
          </a:xfrm>
          <a:prstGeom prst="roundRect">
            <a:avLst>
              <a:gd name="adj" fmla="val 8000"/>
            </a:avLst>
          </a:prstGeom>
          <a:solidFill>
            <a:srgbClr val="1E253F"/>
          </a:solidFill>
          <a:ln w="25400">
            <a:solidFill>
              <a:srgbClr val="E0A8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109728" cy="1051560"/>
          </a:xfrm>
          <a:prstGeom prst="rect">
            <a:avLst/>
          </a:prstGeom>
          <a:solidFill>
            <a:srgbClr val="E0A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E0A82E"/>
                </a:solidFill>
                <a:latin typeface="Georgia"/>
              </a:rPr>
              <a:t>12-month milestones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412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3EEE6"/>
                </a:solidFill>
                <a:latin typeface="Segoe UI"/>
              </a:rPr>
              <a:t>100 paying SMEs      ·      10K MAU      ·      1 enterprise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spc="300">
                <a:solidFill>
                  <a:srgbClr val="F3EEE6"/>
                </a:solidFill>
                <a:latin typeface="Georgia"/>
              </a:rPr>
              <a:t>PANCHAAYAT</a:t>
            </a:r>
            <a:r>
              <a:rPr sz="1200" b="1">
                <a:solidFill>
                  <a:srgbClr val="F26A4B"/>
                </a:solidFill>
                <a:latin typeface="Segoe UI"/>
              </a:rPr>
              <a:t> 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spc="100">
                <a:solidFill>
                  <a:srgbClr val="F3EEE6"/>
                </a:solidFill>
                <a:latin typeface="Segoe UI"/>
              </a:rPr>
              <a:t>15 / 16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75E8C1D-DD7D-7B48-9A38-2704520BF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50" y="594418"/>
            <a:ext cx="544010" cy="54401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12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20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6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26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457200" y="3657600"/>
            <a:ext cx="4389120" cy="4389120"/>
          </a:xfrm>
          <a:prstGeom prst="ellipse">
            <a:avLst/>
          </a:prstGeom>
          <a:noFill/>
          <a:ln w="25400">
            <a:solidFill>
              <a:srgbClr val="1E2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82879" y="4297680"/>
            <a:ext cx="3108960" cy="3108960"/>
          </a:xfrm>
          <a:prstGeom prst="ellipse">
            <a:avLst/>
          </a:prstGeom>
          <a:noFill/>
          <a:ln w="25400">
            <a:solidFill>
              <a:srgbClr val="1E2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10972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3EEE6"/>
                </a:solidFill>
                <a:latin typeface="Georgia"/>
              </a:rPr>
              <a:t>Thank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32704" y="3886200"/>
            <a:ext cx="914400" cy="54864"/>
          </a:xfrm>
          <a:prstGeom prst="rect">
            <a:avLst/>
          </a:prstGeom>
          <a:solidFill>
            <a:srgbClr val="F2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CCE9E5"/>
                </a:solidFill>
                <a:latin typeface="Georgia"/>
              </a:rPr>
              <a:t>Make it visible.   Get it resolved.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9728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F3EEE6"/>
                </a:solidFill>
                <a:latin typeface="Segoe UI"/>
              </a:rPr>
              <a:t>Demo    [your-vercel-url].vercel.app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F3EEE6"/>
                </a:solidFill>
                <a:latin typeface="Segoe UI"/>
              </a:rPr>
              <a:t>GitHub    github.com/himsinghvi/panchayat</a:t>
            </a:r>
          </a:p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F3EEE6"/>
                </a:solidFill>
                <a:latin typeface="Segoe UI"/>
              </a:rPr>
              <a:t>Email    [founder@email.com]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677F39-6097-F363-07D8-5C8845855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504" y="1537872"/>
            <a:ext cx="1095600" cy="1095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5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5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20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5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1040</Words>
  <Application>Microsoft Office PowerPoint</Application>
  <PresentationFormat>Widescreen</PresentationFormat>
  <Paragraphs>305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Singhvi, Himanshu</cp:lastModifiedBy>
  <cp:revision>4</cp:revision>
  <cp:lastPrinted>2026-09-04T16:11:27Z</cp:lastPrinted>
  <dcterms:created xsi:type="dcterms:W3CDTF">2013-01-27T09:14:16Z</dcterms:created>
  <dcterms:modified xsi:type="dcterms:W3CDTF">2026-09-04T16:14:49Z</dcterms:modified>
  <cp:category/>
</cp:coreProperties>
</file>