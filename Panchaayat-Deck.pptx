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321040" y="3657599"/>
            <a:ext cx="4754880" cy="4754880"/>
          </a:xfrm>
          <a:prstGeom prst="ellipse">
            <a:avLst/>
          </a:prstGeom>
          <a:noFill/>
          <a:ln w="25400">
            <a:solidFill>
              <a:srgbClr val="1E2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961119" y="4297679"/>
            <a:ext cx="3474720" cy="3474720"/>
          </a:xfrm>
          <a:prstGeom prst="ellipse">
            <a:avLst/>
          </a:prstGeom>
          <a:noFill/>
          <a:ln w="25400">
            <a:solidFill>
              <a:srgbClr val="1E2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274552" y="1307592"/>
            <a:ext cx="128016" cy="128016"/>
          </a:xfrm>
          <a:prstGeom prst="ellipse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5349240"/>
            <a:ext cx="91440" cy="91440"/>
          </a:xfrm>
          <a:prstGeom prst="ellipse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195559" y="1783080"/>
            <a:ext cx="91440" cy="91440"/>
          </a:xfrm>
          <a:prstGeom prst="ellipse">
            <a:avLst/>
          </a:prstGeom>
          <a:solidFill>
            <a:srgbClr val="6D5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64208" y="3644824"/>
            <a:ext cx="9144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spc="300" dirty="0">
                <a:solidFill>
                  <a:srgbClr val="0D9488"/>
                </a:solidFill>
                <a:latin typeface="Segoe UI"/>
              </a:rPr>
              <a:t>CONSUMER VOICE  ·  RESOLUTION  ·  TRUST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536237"/>
            <a:ext cx="10515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0" b="1" dirty="0" err="1">
                <a:solidFill>
                  <a:srgbClr val="F3EEE6"/>
                </a:solidFill>
                <a:latin typeface="Georgia"/>
              </a:rPr>
              <a:t>Panchaayat</a:t>
            </a:r>
            <a:endParaRPr sz="7800" b="1" dirty="0">
              <a:solidFill>
                <a:srgbClr val="F3EEE6"/>
              </a:solidFill>
              <a:latin typeface="Georgi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3679" y="2913304"/>
            <a:ext cx="9144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0" dirty="0">
                <a:solidFill>
                  <a:srgbClr val="F26A4B"/>
                </a:solidFill>
                <a:latin typeface="Segoe UI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343400"/>
            <a:ext cx="102412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F3EEE6"/>
                </a:solidFill>
                <a:latin typeface="Segoe UI"/>
              </a:rPr>
              <a:t>India's public record for consumer resolutions —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F3EEE6"/>
                </a:solidFill>
                <a:latin typeface="Segoe UI"/>
              </a:rPr>
              <a:t>and the case-management system SMEs can trust.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5806440"/>
            <a:ext cx="1005840" cy="54864"/>
          </a:xfrm>
          <a:prstGeom prst="rect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5989320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spc="100">
                <a:solidFill>
                  <a:srgbClr val="7A7366"/>
                </a:solidFill>
                <a:latin typeface="Segoe UI"/>
              </a:rPr>
              <a:t>Investor &amp; Partnership Pitch   ·   2026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5A74F47-F3E0-601B-D13A-5747398D5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08" y="531927"/>
            <a:ext cx="1786619" cy="178661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5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2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2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22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5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15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85800" y="530352"/>
            <a:ext cx="365760" cy="365760"/>
          </a:xfrm>
          <a:prstGeom prst="ellipse">
            <a:avLst/>
          </a:prstGeom>
          <a:noFill/>
          <a:ln w="2032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3076" y="574243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56462" y="687628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43076" y="801014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29691" y="687628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8446" y="672998"/>
            <a:ext cx="80467" cy="80467"/>
          </a:xfrm>
          <a:prstGeom prst="ellipse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457200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spc="300">
                <a:solidFill>
                  <a:srgbClr val="0D9488"/>
                </a:solidFill>
                <a:latin typeface="Segoe U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4124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1B2133"/>
                </a:solidFill>
                <a:latin typeface="Georgia"/>
              </a:rPr>
              <a:t>Complaints go out. Resolutions never come back.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664208"/>
            <a:ext cx="777240" cy="502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60" y="1965960"/>
            <a:ext cx="2487168" cy="228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E3D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60704" y="2212848"/>
            <a:ext cx="658368" cy="658368"/>
          </a:xfrm>
          <a:prstGeom prst="ellipse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92608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B2133"/>
                </a:solidFill>
                <a:latin typeface="Georgia"/>
              </a:rPr>
              <a:t>Fragmented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310128"/>
            <a:ext cx="204825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7A7366"/>
                </a:solidFill>
                <a:latin typeface="Segoe UI"/>
              </a:rPr>
              <a:t>Reviews, complaints &amp; grievances scattered across silos.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65960"/>
            <a:ext cx="2487168" cy="228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E3D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785615" y="2212848"/>
            <a:ext cx="658368" cy="658368"/>
          </a:xfrm>
          <a:prstGeom prst="ellipse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292608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B2133"/>
                </a:solidFill>
                <a:latin typeface="Georgia"/>
              </a:rPr>
              <a:t>No proof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3310128"/>
            <a:ext cx="204825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7A7366"/>
                </a:solidFill>
                <a:latin typeface="Segoe UI"/>
              </a:rPr>
              <a:t>Brands self-declare “resolved” with nothing to verify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2784" y="1965960"/>
            <a:ext cx="2487168" cy="228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E3D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510528" y="2212848"/>
            <a:ext cx="658368" cy="658368"/>
          </a:xfrm>
          <a:prstGeom prst="ellipse">
            <a:avLst/>
          </a:prstGeom>
          <a:solidFill>
            <a:srgbClr val="6D5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92608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B2133"/>
                </a:solidFill>
                <a:latin typeface="Georgia"/>
              </a:rPr>
              <a:t>Lost queries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816" y="3310128"/>
            <a:ext cx="204825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7A7366"/>
                </a:solidFill>
                <a:latin typeface="Segoe UI"/>
              </a:rPr>
              <a:t>SMEs bury customer issues in a shared email inbox.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1965960"/>
            <a:ext cx="2487168" cy="228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E3D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235440" y="2212848"/>
            <a:ext cx="658368" cy="65836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292608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B2133"/>
                </a:solidFill>
                <a:latin typeface="Georgia"/>
              </a:rPr>
              <a:t>No track 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3310128"/>
            <a:ext cx="204825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7A7366"/>
                </a:solidFill>
                <a:latin typeface="Segoe UI"/>
              </a:rPr>
              <a:t>Consumers can’t see a brand’s real resolution history.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572000"/>
            <a:ext cx="10533888" cy="1417320"/>
          </a:xfrm>
          <a:prstGeom prst="roundRect">
            <a:avLst>
              <a:gd name="adj" fmla="val 6000"/>
            </a:avLst>
          </a:prstGeom>
          <a:solidFill>
            <a:srgbClr val="12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88720" y="4736592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3EEE6"/>
                </a:solidFill>
                <a:latin typeface="Georgia"/>
              </a:rPr>
              <a:t>“I complained. They marked it resolved. Nothing actually changed.”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321808"/>
            <a:ext cx="9875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CCE9E5"/>
                </a:solidFill>
                <a:latin typeface="Segoe UI"/>
              </a:rPr>
              <a:t>Google Reviews, NCH and MouthShut all miss the one thing that matters — the affected consumer confirming it’s truly fixed.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55664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spc="300">
                <a:solidFill>
                  <a:srgbClr val="7A7366"/>
                </a:solidFill>
                <a:latin typeface="Georgia"/>
              </a:rPr>
              <a:t>PANCHAAYAT</a:t>
            </a:r>
            <a:r>
              <a:rPr sz="1200" b="1">
                <a:solidFill>
                  <a:srgbClr val="F26A4B"/>
                </a:solidFill>
                <a:latin typeface="Segoe UI"/>
              </a:rPr>
              <a:t> 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19088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spc="100">
                <a:solidFill>
                  <a:srgbClr val="7A7366"/>
                </a:solidFill>
                <a:latin typeface="Segoe UI"/>
              </a:rPr>
              <a:t>02 / 16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5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5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5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5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5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5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20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15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15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15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25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85800" y="530352"/>
            <a:ext cx="365760" cy="365760"/>
          </a:xfrm>
          <a:prstGeom prst="ellipse">
            <a:avLst/>
          </a:prstGeom>
          <a:noFill/>
          <a:ln w="2032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3076" y="574243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56462" y="687628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43076" y="801014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29691" y="687628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8446" y="672998"/>
            <a:ext cx="80467" cy="80467"/>
          </a:xfrm>
          <a:prstGeom prst="ellipse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457200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spc="300">
                <a:solidFill>
                  <a:srgbClr val="0D9488"/>
                </a:solidFill>
                <a:latin typeface="Segoe UI"/>
              </a:rPr>
              <a:t>THE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4124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1B2133"/>
                </a:solidFill>
                <a:latin typeface="Georgia"/>
              </a:rPr>
              <a:t>One platform. Public reputation + private resolution.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664208"/>
            <a:ext cx="777240" cy="502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2148840" y="2697480"/>
            <a:ext cx="3941064" cy="1280159"/>
          </a:xfrm>
          <a:prstGeom prst="line">
            <a:avLst/>
          </a:prstGeom>
          <a:ln w="22225">
            <a:solidFill>
              <a:srgbClr val="E3D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6089904" y="2697480"/>
            <a:ext cx="3922776" cy="1280159"/>
          </a:xfrm>
          <a:prstGeom prst="line">
            <a:avLst/>
          </a:prstGeom>
          <a:ln w="22225">
            <a:solidFill>
              <a:srgbClr val="E3D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148840" y="3977639"/>
            <a:ext cx="3941064" cy="1280161"/>
          </a:xfrm>
          <a:prstGeom prst="line">
            <a:avLst/>
          </a:prstGeom>
          <a:ln w="22225">
            <a:solidFill>
              <a:srgbClr val="E3D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6089904" y="3977639"/>
            <a:ext cx="3922776" cy="1280161"/>
          </a:xfrm>
          <a:prstGeom prst="line">
            <a:avLst/>
          </a:prstGeom>
          <a:ln w="22225">
            <a:solidFill>
              <a:srgbClr val="E3D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188720" y="2240280"/>
            <a:ext cx="192024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F26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B2133"/>
                </a:solidFill>
                <a:latin typeface="Segoe UI"/>
              </a:rPr>
              <a:t>Public</a:t>
            </a:r>
          </a:p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B2133"/>
                </a:solidFill>
                <a:latin typeface="Segoe UI"/>
              </a:rPr>
              <a:t>complaints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59" y="2240280"/>
            <a:ext cx="192024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B2133"/>
                </a:solidFill>
                <a:latin typeface="Segoe UI"/>
              </a:rPr>
              <a:t>Brand</a:t>
            </a:r>
          </a:p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B2133"/>
                </a:solidFill>
                <a:latin typeface="Segoe UI"/>
              </a:rPr>
              <a:t>profiles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4800600"/>
            <a:ext cx="192024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B2133"/>
                </a:solidFill>
                <a:latin typeface="Segoe UI"/>
              </a:rPr>
              <a:t>SME case</a:t>
            </a:r>
          </a:p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B2133"/>
                </a:solidFill>
                <a:latin typeface="Segoe UI"/>
              </a:rPr>
              <a:t>management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59" y="4800600"/>
            <a:ext cx="192024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6D5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B2133"/>
                </a:solidFill>
                <a:latin typeface="Segoe UI"/>
              </a:rPr>
              <a:t>AI + API</a:t>
            </a:r>
          </a:p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B2133"/>
                </a:solidFill>
                <a:latin typeface="Segoe UI"/>
              </a:rPr>
              <a:t>layer</a:t>
            </a:r>
          </a:p>
        </p:txBody>
      </p:sp>
      <p:sp>
        <p:nvSpPr>
          <p:cNvPr id="19" name="Oval 18"/>
          <p:cNvSpPr/>
          <p:nvPr/>
        </p:nvSpPr>
        <p:spPr>
          <a:xfrm>
            <a:off x="5157216" y="3044951"/>
            <a:ext cx="1865376" cy="186537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Panchaayat</a:t>
            </a:r>
          </a:p>
        </p:txBody>
      </p:sp>
      <p:sp>
        <p:nvSpPr>
          <p:cNvPr id="20" name="Oval 19"/>
          <p:cNvSpPr/>
          <p:nvPr/>
        </p:nvSpPr>
        <p:spPr>
          <a:xfrm>
            <a:off x="5010912" y="2898648"/>
            <a:ext cx="2157984" cy="2157984"/>
          </a:xfrm>
          <a:prstGeom prst="ellipse">
            <a:avLst/>
          </a:prstGeom>
          <a:noFill/>
          <a:ln w="25400">
            <a:solidFill>
              <a:srgbClr val="F26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F766E"/>
                </a:solidFill>
                <a:latin typeface="Georgia"/>
              </a:rPr>
              <a:t>Make it visible.   Get it resolved.   Verified by you.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55664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spc="300">
                <a:solidFill>
                  <a:srgbClr val="7A7366"/>
                </a:solidFill>
                <a:latin typeface="Georgia"/>
              </a:rPr>
              <a:t>PANCHAAYAT</a:t>
            </a:r>
            <a:r>
              <a:rPr sz="1200" b="1">
                <a:solidFill>
                  <a:srgbClr val="F26A4B"/>
                </a:solidFill>
                <a:latin typeface="Segoe UI"/>
              </a:rPr>
              <a:t> 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19088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spc="100">
                <a:solidFill>
                  <a:srgbClr val="7A7366"/>
                </a:solidFill>
                <a:latin typeface="Segoe UI"/>
              </a:rPr>
              <a:t>03 / 16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5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5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5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5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5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5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15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10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15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14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14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14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4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4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4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4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25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85800" y="530352"/>
            <a:ext cx="365760" cy="365760"/>
          </a:xfrm>
          <a:prstGeom prst="ellipse">
            <a:avLst/>
          </a:prstGeom>
          <a:noFill/>
          <a:ln w="2032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3076" y="574243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56462" y="687628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43076" y="801014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29691" y="687628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8446" y="672998"/>
            <a:ext cx="80467" cy="80467"/>
          </a:xfrm>
          <a:prstGeom prst="ellipse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457200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spc="300">
                <a:solidFill>
                  <a:srgbClr val="0D9488"/>
                </a:solidFill>
                <a:latin typeface="Segoe UI"/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4124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1B2133"/>
                </a:solidFill>
                <a:latin typeface="Georgia"/>
              </a:rPr>
              <a:t>Only the consumer can close the case.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664208"/>
            <a:ext cx="777240" cy="502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33271" y="2313432"/>
            <a:ext cx="1133856" cy="1133856"/>
          </a:xfrm>
          <a:prstGeom prst="ellipse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93591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B2133"/>
                </a:solidFill>
                <a:latin typeface="Georgia"/>
              </a:rPr>
              <a:t>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59" y="3977639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7A7366"/>
                </a:solidFill>
                <a:latin typeface="Segoe UI"/>
              </a:rPr>
              <a:t>post + evidence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258568" y="2779776"/>
            <a:ext cx="868680" cy="201168"/>
          </a:xfrm>
          <a:prstGeom prst="rightArrow">
            <a:avLst/>
          </a:prstGeom>
          <a:solidFill>
            <a:srgbClr val="E3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273552" y="2313432"/>
            <a:ext cx="1133856" cy="1133856"/>
          </a:xfrm>
          <a:prstGeom prst="ellipse">
            <a:avLst/>
          </a:prstGeom>
          <a:solidFill>
            <a:srgbClr val="6D5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593591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B2133"/>
                </a:solidFill>
                <a:latin typeface="Georgia"/>
              </a:rPr>
              <a:t>Discuss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977639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7A7366"/>
                </a:solidFill>
                <a:latin typeface="Segoe UI"/>
              </a:rPr>
              <a:t>community · Me Too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498848" y="2779776"/>
            <a:ext cx="868680" cy="201168"/>
          </a:xfrm>
          <a:prstGeom prst="rightArrow">
            <a:avLst/>
          </a:prstGeom>
          <a:solidFill>
            <a:srgbClr val="E3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513832" y="2313432"/>
            <a:ext cx="1133856" cy="113385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593591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B2133"/>
                </a:solidFill>
                <a:latin typeface="Georgia"/>
              </a:rPr>
              <a:t>Respond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3977639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7A7366"/>
                </a:solidFill>
                <a:latin typeface="Segoe UI"/>
              </a:rPr>
              <a:t>brand replies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739128" y="2779776"/>
            <a:ext cx="868680" cy="201168"/>
          </a:xfrm>
          <a:prstGeom prst="rightArrow">
            <a:avLst/>
          </a:prstGeom>
          <a:solidFill>
            <a:srgbClr val="E3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754112" y="2313432"/>
            <a:ext cx="1133856" cy="1133856"/>
          </a:xfrm>
          <a:prstGeom prst="ellipse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593591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B2133"/>
                </a:solidFill>
                <a:latin typeface="Georgia"/>
              </a:rPr>
              <a:t>Propose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977639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7A7366"/>
                </a:solidFill>
                <a:latin typeface="Segoe UI"/>
              </a:rPr>
              <a:t>refund / repair / apology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979408" y="2779776"/>
            <a:ext cx="868680" cy="201168"/>
          </a:xfrm>
          <a:prstGeom prst="rightArrow">
            <a:avLst/>
          </a:prstGeom>
          <a:solidFill>
            <a:srgbClr val="E3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994392" y="2313432"/>
            <a:ext cx="1133856" cy="113385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593591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B2133"/>
                </a:solidFill>
                <a:latin typeface="Georgia"/>
              </a:rPr>
              <a:t>Confirm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3977639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7A7366"/>
                </a:solidFill>
                <a:latin typeface="Segoe UI"/>
              </a:rPr>
              <a:t>only YOU close 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892040"/>
            <a:ext cx="10533888" cy="1234440"/>
          </a:xfrm>
          <a:prstGeom prst="roundRect">
            <a:avLst>
              <a:gd name="adj" fmla="val 6000"/>
            </a:avLst>
          </a:prstGeom>
          <a:solidFill>
            <a:srgbClr val="12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88720" y="5029200"/>
            <a:ext cx="9966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E0A82E"/>
                </a:solidFill>
                <a:latin typeface="Georgia"/>
              </a:rPr>
              <a:t>Brands cannot unilaterally mark a complaint resolved.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532120"/>
            <a:ext cx="9966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CCE9E5"/>
                </a:solidFill>
                <a:latin typeface="Segoe UI"/>
              </a:rPr>
              <a:t>The full, immutable resolution history stays public forever — that permanence is the trust moat.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55664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spc="300">
                <a:solidFill>
                  <a:srgbClr val="7A7366"/>
                </a:solidFill>
                <a:latin typeface="Georgia"/>
              </a:rPr>
              <a:t>PANCHAAYAT</a:t>
            </a:r>
            <a:r>
              <a:rPr sz="1200" b="1">
                <a:solidFill>
                  <a:srgbClr val="F26A4B"/>
                </a:solidFill>
                <a:latin typeface="Segoe UI"/>
              </a:rPr>
              <a:t> 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419088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spc="100">
                <a:solidFill>
                  <a:srgbClr val="7A7366"/>
                </a:solidFill>
                <a:latin typeface="Segoe UI"/>
              </a:rPr>
              <a:t>04 / 16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5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5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5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5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5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5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22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34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6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16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34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6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16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34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6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16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34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6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2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16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4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34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25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85800" y="530352"/>
            <a:ext cx="365760" cy="365760"/>
          </a:xfrm>
          <a:prstGeom prst="ellipse">
            <a:avLst/>
          </a:prstGeom>
          <a:noFill/>
          <a:ln w="2032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3076" y="574243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56462" y="687628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43076" y="801014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29691" y="687628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8446" y="672998"/>
            <a:ext cx="80467" cy="80467"/>
          </a:xfrm>
          <a:prstGeom prst="ellipse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457200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spc="300">
                <a:solidFill>
                  <a:srgbClr val="0D9488"/>
                </a:solidFill>
                <a:latin typeface="Segoe UI"/>
              </a:rPr>
              <a:t>MARKET OPPORTUNITY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4124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1B2133"/>
                </a:solidFill>
                <a:latin typeface="Georgia"/>
              </a:rPr>
              <a:t>India-first — a large, underserved wedge.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664208"/>
            <a:ext cx="777240" cy="502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68680" y="2148840"/>
            <a:ext cx="7863840" cy="658368"/>
          </a:xfrm>
          <a:prstGeom prst="roundRect">
            <a:avLst>
              <a:gd name="adj" fmla="val 50000"/>
            </a:avLst>
          </a:prstGeom>
          <a:solidFill>
            <a:srgbClr val="F1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68680" y="2148840"/>
            <a:ext cx="7470648" cy="658368"/>
          </a:xfrm>
          <a:prstGeom prst="roundRect">
            <a:avLst>
              <a:gd name="adj" fmla="val 50000"/>
            </a:avLst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2167128"/>
            <a:ext cx="59436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Segoe UI"/>
              </a:rPr>
              <a:t>Indian MSMEs with no formal helpdesk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12140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B2133"/>
                </a:solidFill>
                <a:latin typeface="Georgia"/>
              </a:rPr>
              <a:t>63M+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200400"/>
            <a:ext cx="7863840" cy="658368"/>
          </a:xfrm>
          <a:prstGeom prst="roundRect">
            <a:avLst>
              <a:gd name="adj" fmla="val 50000"/>
            </a:avLst>
          </a:prstGeom>
          <a:solidFill>
            <a:srgbClr val="F1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68680" y="3200400"/>
            <a:ext cx="4325112" cy="658368"/>
          </a:xfrm>
          <a:prstGeom prst="roundRect">
            <a:avLst>
              <a:gd name="adj" fmla="val 50000"/>
            </a:avLst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3218688"/>
            <a:ext cx="59436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Segoe UI"/>
              </a:rPr>
              <a:t>Consumer-complaint &amp; reputation search 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17296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B2133"/>
                </a:solidFill>
                <a:latin typeface="Georgia"/>
              </a:rPr>
              <a:t>₹ Bn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251960"/>
            <a:ext cx="7863840" cy="658368"/>
          </a:xfrm>
          <a:prstGeom prst="roundRect">
            <a:avLst>
              <a:gd name="adj" fmla="val 50000"/>
            </a:avLst>
          </a:prstGeom>
          <a:solidFill>
            <a:srgbClr val="F1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68680" y="4251960"/>
            <a:ext cx="6133795" cy="65836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270248"/>
            <a:ext cx="59436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Segoe UI"/>
              </a:rPr>
              <a:t>Global customer-experience software TAM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42245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B2133"/>
                </a:solidFill>
                <a:latin typeface="Georgia"/>
              </a:rPr>
              <a:t>$50B+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5486400"/>
            <a:ext cx="10469880" cy="658368"/>
          </a:xfrm>
          <a:prstGeom prst="roundRect">
            <a:avLst>
              <a:gd name="adj" fmla="val 12000"/>
            </a:avLst>
          </a:prstGeom>
          <a:solidFill>
            <a:srgbClr val="CCE9E5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B2133"/>
                </a:solidFill>
                <a:latin typeface="Segoe UI"/>
              </a:rPr>
              <a:t>Wedge:  rank on “[Brand] complaints” search  +  SME SaaS priced far below Zendesk / Freshdesk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5074920"/>
            <a:ext cx="2468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7A7366"/>
                </a:solidFill>
                <a:latin typeface="Segoe UI"/>
              </a:rPr>
              <a:t>illustrative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55664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spc="300">
                <a:solidFill>
                  <a:srgbClr val="7A7366"/>
                </a:solidFill>
                <a:latin typeface="Georgia"/>
              </a:rPr>
              <a:t>PANCHAAYAT</a:t>
            </a:r>
            <a:r>
              <a:rPr sz="1200" b="1">
                <a:solidFill>
                  <a:srgbClr val="F26A4B"/>
                </a:solidFill>
                <a:latin typeface="Segoe UI"/>
              </a:rPr>
              <a:t> 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19088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spc="100">
                <a:solidFill>
                  <a:srgbClr val="7A7366"/>
                </a:solidFill>
                <a:latin typeface="Segoe UI"/>
              </a:rPr>
              <a:t>05 / 16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5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5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5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5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5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5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20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12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2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12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12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12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25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85800" y="530352"/>
            <a:ext cx="365760" cy="365760"/>
          </a:xfrm>
          <a:prstGeom prst="ellipse">
            <a:avLst/>
          </a:prstGeom>
          <a:noFill/>
          <a:ln w="2032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3076" y="574243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56462" y="687628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43076" y="801014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29691" y="687628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8446" y="672998"/>
            <a:ext cx="80467" cy="80467"/>
          </a:xfrm>
          <a:prstGeom prst="ellipse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457200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spc="300">
                <a:solidFill>
                  <a:srgbClr val="0D9488"/>
                </a:solidFill>
                <a:latin typeface="Segoe UI"/>
              </a:rPr>
              <a:t>PRODUCT — MVP IS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4124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1B2133"/>
                </a:solidFill>
                <a:latin typeface="Georgia"/>
              </a:rPr>
              <a:t>A full-stack platform, deployed and demo-ready.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664208"/>
            <a:ext cx="777240" cy="502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60" y="1965960"/>
            <a:ext cx="2487168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3D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14983" y="2084831"/>
            <a:ext cx="530352" cy="530352"/>
          </a:xfrm>
          <a:prstGeom prst="ellipse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112264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>
                <a:solidFill>
                  <a:srgbClr val="1B2133"/>
                </a:solidFill>
                <a:latin typeface="Georgia"/>
              </a:rPr>
              <a:t>Complaint wizard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" y="2715768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7A7366"/>
                </a:solidFill>
                <a:latin typeface="Segoe UI"/>
              </a:rPr>
              <a:t>AI draft + quality check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65960"/>
            <a:ext cx="2487168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3D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739896" y="2084831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2" y="2112264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>
                <a:solidFill>
                  <a:srgbClr val="1B2133"/>
                </a:solidFill>
                <a:latin typeface="Georgia"/>
              </a:rPr>
              <a:t>Smart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7328" y="2715768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7A7366"/>
                </a:solidFill>
                <a:latin typeface="Segoe UI"/>
              </a:rPr>
              <a:t>natural language + synonyms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2784" y="1965960"/>
            <a:ext cx="2487168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3D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64808" y="2084831"/>
            <a:ext cx="530352" cy="530352"/>
          </a:xfrm>
          <a:prstGeom prst="ellipse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95744" y="2112264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>
                <a:solidFill>
                  <a:srgbClr val="1B2133"/>
                </a:solidFill>
                <a:latin typeface="Georgia"/>
              </a:rPr>
              <a:t>Brand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715768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7A7366"/>
                </a:solidFill>
                <a:latin typeface="Segoe UI"/>
              </a:rPr>
              <a:t>KPIs + complaint inbox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1965960"/>
            <a:ext cx="2487168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3D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189720" y="2084831"/>
            <a:ext cx="530352" cy="530352"/>
          </a:xfrm>
          <a:prstGeom prst="ellipse">
            <a:avLst/>
          </a:prstGeom>
          <a:solidFill>
            <a:srgbClr val="6D5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0656" y="2112264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>
                <a:solidFill>
                  <a:srgbClr val="1B2133"/>
                </a:solidFill>
                <a:latin typeface="Georgia"/>
              </a:rPr>
              <a:t>Resolution loop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7152" y="2715768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7A7366"/>
                </a:solidFill>
                <a:latin typeface="Segoe UI"/>
              </a:rPr>
              <a:t>propose → confirm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3383280"/>
            <a:ext cx="2487168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3D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14983" y="3502152"/>
            <a:ext cx="530352" cy="530352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3529584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>
                <a:solidFill>
                  <a:srgbClr val="1B2133"/>
                </a:solidFill>
                <a:latin typeface="Georgia"/>
              </a:rPr>
              <a:t>Public feed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" y="4133088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7A7366"/>
                </a:solidFill>
                <a:latin typeface="Segoe UI"/>
              </a:rPr>
              <a:t>trending + recently resolved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47872" y="3383280"/>
            <a:ext cx="2487168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3D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739896" y="3502152"/>
            <a:ext cx="530352" cy="530352"/>
          </a:xfrm>
          <a:prstGeom prst="ellipse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70832" y="3529584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>
                <a:solidFill>
                  <a:srgbClr val="1B2133"/>
                </a:solidFill>
                <a:latin typeface="Georgia"/>
              </a:rPr>
              <a:t>Contextual ads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67328" y="4133088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7A7366"/>
                </a:solidFill>
                <a:latin typeface="Segoe UI"/>
              </a:rPr>
              <a:t>AI targeting, never biased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72784" y="3383280"/>
            <a:ext cx="2487168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3D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464808" y="3502152"/>
            <a:ext cx="530352" cy="530352"/>
          </a:xfrm>
          <a:prstGeom prst="ellipse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5744" y="3529584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>
                <a:solidFill>
                  <a:srgbClr val="1B2133"/>
                </a:solidFill>
                <a:latin typeface="Georgia"/>
              </a:rPr>
              <a:t>B2B pages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133088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7A7366"/>
                </a:solidFill>
                <a:latin typeface="Segoe UI"/>
              </a:rPr>
              <a:t>pricing + API docs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97696" y="3383280"/>
            <a:ext cx="2487168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3D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189720" y="3502152"/>
            <a:ext cx="530352" cy="530352"/>
          </a:xfrm>
          <a:prstGeom prst="ellipse">
            <a:avLst/>
          </a:prstGeom>
          <a:solidFill>
            <a:srgbClr val="6D5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20656" y="3529584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>
                <a:solidFill>
                  <a:srgbClr val="1B2133"/>
                </a:solidFill>
                <a:latin typeface="Georgia"/>
              </a:rPr>
              <a:t>AI layer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17152" y="4133088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7A7366"/>
                </a:solidFill>
                <a:latin typeface="Segoe UI"/>
              </a:rPr>
              <a:t>Azure GPT + rule fallbacks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" y="4956048"/>
            <a:ext cx="10533888" cy="1051560"/>
          </a:xfrm>
          <a:prstGeom prst="roundRect">
            <a:avLst>
              <a:gd name="adj" fmla="val 6000"/>
            </a:avLst>
          </a:prstGeom>
          <a:solidFill>
            <a:srgbClr val="12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43000" y="5047488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spc="200">
                <a:solidFill>
                  <a:srgbClr val="E0A82E"/>
                </a:solidFill>
                <a:latin typeface="Segoe UI"/>
              </a:rPr>
              <a:t>LIVE DEMO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" y="539496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F3EEE6"/>
                </a:solidFill>
                <a:latin typeface="Segoe UI"/>
              </a:rPr>
              <a:t>github.com/himsinghvi/panchayat    ·    login  admin / demo123    ·    8 personas · 6 brands · seeded cases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55664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spc="300">
                <a:solidFill>
                  <a:srgbClr val="7A7366"/>
                </a:solidFill>
                <a:latin typeface="Georgia"/>
              </a:rPr>
              <a:t>PANCHAAYAT</a:t>
            </a:r>
            <a:r>
              <a:rPr sz="1200" b="1">
                <a:solidFill>
                  <a:srgbClr val="F26A4B"/>
                </a:solidFill>
                <a:latin typeface="Segoe UI"/>
              </a:rPr>
              <a:t> 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09960" y="6419088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spc="100">
                <a:solidFill>
                  <a:srgbClr val="7A7366"/>
                </a:solidFill>
                <a:latin typeface="Segoe UI"/>
              </a:rPr>
              <a:t>06 / 16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5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5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5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5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5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5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18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36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85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6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36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85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36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85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36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85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6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36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85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6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36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85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6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36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85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6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36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25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85800" y="530352"/>
            <a:ext cx="365760" cy="365760"/>
          </a:xfrm>
          <a:prstGeom prst="ellipse">
            <a:avLst/>
          </a:prstGeom>
          <a:noFill/>
          <a:ln w="2032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3076" y="574243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56462" y="687628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43076" y="801014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29691" y="687628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8446" y="672998"/>
            <a:ext cx="80467" cy="80467"/>
          </a:xfrm>
          <a:prstGeom prst="ellipse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457200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spc="300">
                <a:solidFill>
                  <a:srgbClr val="0D9488"/>
                </a:solidFill>
                <a:latin typeface="Segoe UI"/>
              </a:rPr>
              <a:t>FOR BUSINESS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4124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 dirty="0">
                <a:solidFill>
                  <a:srgbClr val="1B2133"/>
                </a:solidFill>
                <a:latin typeface="Georgia"/>
              </a:rPr>
              <a:t>Turn a chaotic inbox into a case-management system.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664208"/>
            <a:ext cx="777240" cy="502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68680" y="2011680"/>
            <a:ext cx="466344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E3D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68680" y="2011680"/>
            <a:ext cx="4663440" cy="65836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2084831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Georgia"/>
              </a:rPr>
              <a:t>Case #1042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2157984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spc="100">
                <a:solidFill>
                  <a:srgbClr val="12172B"/>
                </a:solidFill>
                <a:latin typeface="Segoe UI"/>
              </a:rPr>
              <a:t>RESOLVED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88036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7A7366"/>
                </a:solidFill>
                <a:latin typeface="Segoe UI"/>
              </a:rPr>
              <a:t>Customer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88036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B2133"/>
                </a:solidFill>
                <a:latin typeface="Segoe UI"/>
              </a:rPr>
              <a:t>Priya S. · Pune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392424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7A7366"/>
                </a:solidFill>
                <a:latin typeface="Segoe UI"/>
              </a:rPr>
              <a:t>Issue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3392424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B2133"/>
                </a:solidFill>
                <a:latin typeface="Segoe UI"/>
              </a:rPr>
              <a:t>AC install delayed 3 weeks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904487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7A7366"/>
                </a:solidFill>
                <a:latin typeface="Segoe UI"/>
              </a:rPr>
              <a:t>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3904487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B2133"/>
                </a:solidFill>
                <a:latin typeface="Segoe UI"/>
              </a:rPr>
              <a:t>Vikram (support)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416552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7A7366"/>
                </a:solidFill>
                <a:latin typeface="Segoe UI"/>
              </a:rPr>
              <a:t>SLA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4416552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B2133"/>
                </a:solidFill>
                <a:latin typeface="Segoe UI"/>
              </a:rPr>
              <a:t>First reply 2h · closed 5d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928616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7A7366"/>
                </a:solidFill>
                <a:latin typeface="Segoe UI"/>
              </a:rPr>
              <a:t>Channel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4928616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B2133"/>
                </a:solidFill>
                <a:latin typeface="Segoe UI"/>
              </a:rPr>
              <a:t>Email → auto-synced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5440680"/>
            <a:ext cx="4114800" cy="201168"/>
          </a:xfrm>
          <a:prstGeom prst="roundRect">
            <a:avLst>
              <a:gd name="adj" fmla="val 50000"/>
            </a:avLst>
          </a:prstGeom>
          <a:solidFill>
            <a:srgbClr val="F1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143000" y="5440680"/>
            <a:ext cx="4114800" cy="20116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044183" y="2084831"/>
            <a:ext cx="438912" cy="438912"/>
          </a:xfrm>
          <a:prstGeom prst="ellipse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084831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B2133"/>
                </a:solidFill>
                <a:latin typeface="Segoe UI"/>
              </a:rPr>
              <a:t>Branded page  panchaayat.in/yourbrand</a:t>
            </a:r>
          </a:p>
        </p:txBody>
      </p:sp>
      <p:sp>
        <p:nvSpPr>
          <p:cNvPr id="29" name="Oval 28"/>
          <p:cNvSpPr/>
          <p:nvPr/>
        </p:nvSpPr>
        <p:spPr>
          <a:xfrm>
            <a:off x="6044183" y="2724911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2724911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B2133"/>
                </a:solidFill>
                <a:latin typeface="Segoe UI"/>
              </a:rPr>
              <a:t>Two-way email → case sync</a:t>
            </a:r>
          </a:p>
        </p:txBody>
      </p:sp>
      <p:sp>
        <p:nvSpPr>
          <p:cNvPr id="31" name="Oval 30"/>
          <p:cNvSpPr/>
          <p:nvPr/>
        </p:nvSpPr>
        <p:spPr>
          <a:xfrm>
            <a:off x="6044183" y="3364991"/>
            <a:ext cx="438912" cy="438912"/>
          </a:xfrm>
          <a:prstGeom prst="ellipse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364991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B2133"/>
                </a:solidFill>
                <a:latin typeface="Segoe UI"/>
              </a:rPr>
              <a:t>Case ID, status &amp; owner on every query</a:t>
            </a:r>
          </a:p>
        </p:txBody>
      </p:sp>
      <p:sp>
        <p:nvSpPr>
          <p:cNvPr id="33" name="Oval 32"/>
          <p:cNvSpPr/>
          <p:nvPr/>
        </p:nvSpPr>
        <p:spPr>
          <a:xfrm>
            <a:off x="6044183" y="4005071"/>
            <a:ext cx="438912" cy="438912"/>
          </a:xfrm>
          <a:prstGeom prst="ellipse">
            <a:avLst/>
          </a:prstGeom>
          <a:solidFill>
            <a:srgbClr val="6D5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005071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B2133"/>
                </a:solidFill>
                <a:latin typeface="Segoe UI"/>
              </a:rPr>
              <a:t>Private by default; public escalation if ignored</a:t>
            </a:r>
          </a:p>
        </p:txBody>
      </p:sp>
      <p:sp>
        <p:nvSpPr>
          <p:cNvPr id="35" name="Oval 34"/>
          <p:cNvSpPr/>
          <p:nvPr/>
        </p:nvSpPr>
        <p:spPr>
          <a:xfrm>
            <a:off x="6044183" y="4645152"/>
            <a:ext cx="438912" cy="438912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4645152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B2133"/>
                </a:solidFill>
                <a:latin typeface="Segoe UI"/>
              </a:rPr>
              <a:t>CSAT / NPS + SLA dashboards</a:t>
            </a:r>
          </a:p>
        </p:txBody>
      </p:sp>
      <p:sp>
        <p:nvSpPr>
          <p:cNvPr id="37" name="Oval 36"/>
          <p:cNvSpPr/>
          <p:nvPr/>
        </p:nvSpPr>
        <p:spPr>
          <a:xfrm>
            <a:off x="6044183" y="5285231"/>
            <a:ext cx="438912" cy="438912"/>
          </a:xfrm>
          <a:prstGeom prst="ellipse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5285231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B2133"/>
                </a:solidFill>
                <a:latin typeface="Segoe UI"/>
              </a:rPr>
              <a:t>14-day free trial · cancel anytime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55664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spc="300">
                <a:solidFill>
                  <a:srgbClr val="7A7366"/>
                </a:solidFill>
                <a:latin typeface="Georgia"/>
              </a:rPr>
              <a:t>PANCHAAYAT</a:t>
            </a:r>
            <a:r>
              <a:rPr sz="1200" b="1">
                <a:solidFill>
                  <a:srgbClr val="F26A4B"/>
                </a:solidFill>
                <a:latin typeface="Segoe UI"/>
              </a:rPr>
              <a:t> 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09960" y="6419088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spc="100">
                <a:solidFill>
                  <a:srgbClr val="7A7366"/>
                </a:solidFill>
                <a:latin typeface="Segoe UI"/>
              </a:rPr>
              <a:t>07 / 16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5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5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5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5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5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5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20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20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11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11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11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11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11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85800" y="530352"/>
            <a:ext cx="365760" cy="365760"/>
          </a:xfrm>
          <a:prstGeom prst="ellipse">
            <a:avLst/>
          </a:prstGeom>
          <a:noFill/>
          <a:ln w="2032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3076" y="574243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56462" y="687628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43076" y="801014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29691" y="687628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8446" y="672998"/>
            <a:ext cx="80467" cy="80467"/>
          </a:xfrm>
          <a:prstGeom prst="ellipse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457200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spc="300">
                <a:solidFill>
                  <a:srgbClr val="0D9488"/>
                </a:solidFill>
                <a:latin typeface="Segoe UI"/>
              </a:rPr>
              <a:t>SAAS PRICING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4124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1B2133"/>
                </a:solidFill>
                <a:latin typeface="Georgia"/>
              </a:rPr>
              <a:t>Simple, affordable plans for SMEs &amp; MSMEs.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664208"/>
            <a:ext cx="777240" cy="502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417320" y="2148840"/>
            <a:ext cx="2743200" cy="3611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E3D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91640" y="2404872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D9488"/>
                </a:solidFill>
                <a:latin typeface="Georgia"/>
              </a:rPr>
              <a:t>Startup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880360"/>
            <a:ext cx="2194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B2133"/>
                </a:solidFill>
                <a:latin typeface="Georgia"/>
              </a:rPr>
              <a:t>₹1,999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9928" y="352044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7A7366"/>
                </a:solidFill>
                <a:latin typeface="Segoe UI"/>
              </a:rPr>
              <a:t>per month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09928" y="3904487"/>
            <a:ext cx="2148840" cy="18288"/>
          </a:xfrm>
          <a:prstGeom prst="rect">
            <a:avLst/>
          </a:prstGeom>
          <a:solidFill>
            <a:srgbClr val="E3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709928" y="4023360"/>
            <a:ext cx="22402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1B2133"/>
                </a:solidFill>
                <a:latin typeface="Segoe UI"/>
              </a:rPr>
              <a:t>✓   150 cases / month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1B2133"/>
                </a:solidFill>
                <a:latin typeface="Segoe UI"/>
              </a:rPr>
              <a:t>✓   1 seat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1B2133"/>
                </a:solidFill>
                <a:latin typeface="Segoe UI"/>
              </a:rPr>
              <a:t>✓   Branded page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1B2133"/>
                </a:solidFill>
                <a:latin typeface="Segoe UI"/>
              </a:rPr>
              <a:t>✓   Email + SMS alerts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2011680"/>
            <a:ext cx="2743200" cy="3886200"/>
          </a:xfrm>
          <a:prstGeom prst="roundRect">
            <a:avLst>
              <a:gd name="adj" fmla="val 7000"/>
            </a:avLst>
          </a:prstGeom>
          <a:solidFill>
            <a:srgbClr val="12172B"/>
          </a:solidFill>
          <a:ln w="31750">
            <a:solidFill>
              <a:srgbClr val="F26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394959" y="18288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Segoe UI"/>
              </a:rPr>
              <a:t>POPULAR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267712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26A4B"/>
                </a:solidFill>
                <a:latin typeface="Georgia"/>
              </a:rPr>
              <a:t>Scale-up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743200"/>
            <a:ext cx="2194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3EEE6"/>
                </a:solidFill>
                <a:latin typeface="Georgia"/>
              </a:rPr>
              <a:t>₹3,999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328" y="338328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CCE9E5"/>
                </a:solidFill>
                <a:latin typeface="Segoe UI"/>
              </a:rPr>
              <a:t>per month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10328" y="3767328"/>
            <a:ext cx="2148840" cy="18288"/>
          </a:xfrm>
          <a:prstGeom prst="rect">
            <a:avLst/>
          </a:prstGeom>
          <a:solidFill>
            <a:srgbClr val="1E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10328" y="3886200"/>
            <a:ext cx="22402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F3EEE6"/>
                </a:solidFill>
                <a:latin typeface="Segoe UI"/>
              </a:rPr>
              <a:t>✓   Unlimited cases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F3EEE6"/>
                </a:solidFill>
                <a:latin typeface="Segoe UI"/>
              </a:rPr>
              <a:t>✓   10 seats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F3EEE6"/>
                </a:solidFill>
                <a:latin typeface="Segoe UI"/>
              </a:rPr>
              <a:t>✓   Email → case sync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F3EEE6"/>
                </a:solidFill>
                <a:latin typeface="Segoe UI"/>
              </a:rPr>
              <a:t>✓   CSAT + social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2148840"/>
            <a:ext cx="2743200" cy="3611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E3D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92440" y="2404872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6D5DD3"/>
                </a:solidFill>
                <a:latin typeface="Georgia"/>
              </a:rPr>
              <a:t>Enterprise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2880360"/>
            <a:ext cx="2194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B2133"/>
                </a:solidFill>
                <a:latin typeface="Georgia"/>
              </a:rPr>
              <a:t>₹5,999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0728" y="352044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7A7366"/>
                </a:solidFill>
                <a:latin typeface="Segoe UI"/>
              </a:rPr>
              <a:t>per month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10728" y="3904487"/>
            <a:ext cx="2148840" cy="18288"/>
          </a:xfrm>
          <a:prstGeom prst="rect">
            <a:avLst/>
          </a:prstGeom>
          <a:solidFill>
            <a:srgbClr val="E3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10728" y="4023360"/>
            <a:ext cx="22402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1B2133"/>
                </a:solidFill>
                <a:latin typeface="Segoe UI"/>
              </a:rPr>
              <a:t>✓   Full REST API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1B2133"/>
                </a:solidFill>
                <a:latin typeface="Segoe UI"/>
              </a:rPr>
              <a:t>✓   White-label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1B2133"/>
                </a:solidFill>
                <a:latin typeface="Segoe UI"/>
              </a:rPr>
              <a:t>✓   AI triage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1B2133"/>
                </a:solidFill>
                <a:latin typeface="Segoe UI"/>
              </a:rPr>
              <a:t>✓   Unlimited seats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 spc="100">
                <a:solidFill>
                  <a:srgbClr val="7A7366"/>
                </a:solidFill>
                <a:latin typeface="Segoe UI"/>
              </a:rPr>
              <a:t>No setup fee    ·    30-day money-back guarantee    ·    GST invoice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55664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spc="300">
                <a:solidFill>
                  <a:srgbClr val="7A7366"/>
                </a:solidFill>
                <a:latin typeface="Georgia"/>
              </a:rPr>
              <a:t>PANCHAAYAT</a:t>
            </a:r>
            <a:r>
              <a:rPr sz="1200" b="1">
                <a:solidFill>
                  <a:srgbClr val="F26A4B"/>
                </a:solidFill>
                <a:latin typeface="Segoe UI"/>
              </a:rPr>
              <a:t> 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19088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spc="100">
                <a:solidFill>
                  <a:srgbClr val="7A7366"/>
                </a:solidFill>
                <a:latin typeface="Segoe UI"/>
              </a:rPr>
              <a:t>08 / 16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5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5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5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5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5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5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20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22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22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20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85800" y="530352"/>
            <a:ext cx="365760" cy="365760"/>
          </a:xfrm>
          <a:prstGeom prst="ellipse">
            <a:avLst/>
          </a:prstGeom>
          <a:noFill/>
          <a:ln w="2032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3076" y="574243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56462" y="687628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43076" y="801014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29691" y="687628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8446" y="672998"/>
            <a:ext cx="80467" cy="80467"/>
          </a:xfrm>
          <a:prstGeom prst="ellipse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457200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spc="300">
                <a:solidFill>
                  <a:srgbClr val="0D9488"/>
                </a:solidFill>
                <a:latin typeface="Segoe UI"/>
              </a:rPr>
              <a:t>BUSINESS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4124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1B2133"/>
                </a:solidFill>
                <a:latin typeface="Georgia"/>
              </a:rPr>
              <a:t>Trust-first monetization.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664208"/>
            <a:ext cx="777240" cy="502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68680" y="2148840"/>
            <a:ext cx="5721858" cy="82296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55%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7114" y="2148840"/>
            <a:ext cx="2580894" cy="822960"/>
          </a:xfrm>
          <a:prstGeom prst="roundRect">
            <a:avLst>
              <a:gd name="adj" fmla="val 6000"/>
            </a:avLst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25%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44584" y="2148840"/>
            <a:ext cx="1219809" cy="822960"/>
          </a:xfrm>
          <a:prstGeom prst="roundRect">
            <a:avLst>
              <a:gd name="adj" fmla="val 6000"/>
            </a:avLst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12%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00969" y="2148840"/>
            <a:ext cx="801014" cy="822960"/>
          </a:xfrm>
          <a:prstGeom prst="roundRect">
            <a:avLst>
              <a:gd name="adj" fmla="val 6000"/>
            </a:avLst>
          </a:prstGeom>
          <a:solidFill>
            <a:srgbClr val="6D5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8%</a:t>
            </a:r>
          </a:p>
        </p:txBody>
      </p:sp>
      <p:sp>
        <p:nvSpPr>
          <p:cNvPr id="15" name="Oval 14"/>
          <p:cNvSpPr/>
          <p:nvPr/>
        </p:nvSpPr>
        <p:spPr>
          <a:xfrm>
            <a:off x="868679" y="3474720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80160" y="3410712"/>
            <a:ext cx="4846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B2133"/>
                </a:solidFill>
                <a:latin typeface="Segoe UI"/>
              </a:rPr>
              <a:t>SaaS subscriptions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749039"/>
            <a:ext cx="4846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7A7366"/>
                </a:solidFill>
                <a:latin typeface="Segoe UI"/>
              </a:rPr>
              <a:t>primary revenue — Startup → Enterprise</a:t>
            </a:r>
          </a:p>
        </p:txBody>
      </p:sp>
      <p:sp>
        <p:nvSpPr>
          <p:cNvPr id="18" name="Oval 17"/>
          <p:cNvSpPr/>
          <p:nvPr/>
        </p:nvSpPr>
        <p:spPr>
          <a:xfrm>
            <a:off x="6355080" y="3474720"/>
            <a:ext cx="274320" cy="274320"/>
          </a:xfrm>
          <a:prstGeom prst="ellipse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0" y="3410712"/>
            <a:ext cx="4846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B2133"/>
                </a:solidFill>
                <a:latin typeface="Segoe UI"/>
              </a:rPr>
              <a:t>Enterprise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749039"/>
            <a:ext cx="4846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7A7366"/>
                </a:solidFill>
                <a:latin typeface="Segoe UI"/>
              </a:rPr>
              <a:t>banks, insurers, telcos</a:t>
            </a:r>
          </a:p>
        </p:txBody>
      </p:sp>
      <p:sp>
        <p:nvSpPr>
          <p:cNvPr id="21" name="Oval 20"/>
          <p:cNvSpPr/>
          <p:nvPr/>
        </p:nvSpPr>
        <p:spPr>
          <a:xfrm>
            <a:off x="868679" y="4343400"/>
            <a:ext cx="274320" cy="274320"/>
          </a:xfrm>
          <a:prstGeom prst="ellipse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80160" y="4279392"/>
            <a:ext cx="4846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B2133"/>
                </a:solidFill>
                <a:latin typeface="Segoe UI"/>
              </a:rPr>
              <a:t>Contextual ads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617720"/>
            <a:ext cx="4846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7A7366"/>
                </a:solidFill>
                <a:latin typeface="Segoe UI"/>
              </a:rPr>
              <a:t>legal aid · warranty · refund tools</a:t>
            </a:r>
          </a:p>
        </p:txBody>
      </p:sp>
      <p:sp>
        <p:nvSpPr>
          <p:cNvPr id="24" name="Oval 23"/>
          <p:cNvSpPr/>
          <p:nvPr/>
        </p:nvSpPr>
        <p:spPr>
          <a:xfrm>
            <a:off x="6355080" y="4343400"/>
            <a:ext cx="274320" cy="274320"/>
          </a:xfrm>
          <a:prstGeom prst="ellipse">
            <a:avLst/>
          </a:prstGeom>
          <a:solidFill>
            <a:srgbClr val="6D5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0" y="4279392"/>
            <a:ext cx="4846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B2133"/>
                </a:solidFill>
                <a:latin typeface="Segoe UI"/>
              </a:rPr>
              <a:t>Analytics (future)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617720"/>
            <a:ext cx="4846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7A7366"/>
                </a:solidFill>
                <a:latin typeface="Segoe UI"/>
              </a:rPr>
              <a:t>benchmarks · researcher API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349240"/>
            <a:ext cx="10469880" cy="685800"/>
          </a:xfrm>
          <a:prstGeom prst="roundRect">
            <a:avLst>
              <a:gd name="adj" fmla="val 10000"/>
            </a:avLst>
          </a:prstGeom>
          <a:solidFill>
            <a:srgbClr val="12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F9D8CF"/>
                </a:solidFill>
                <a:latin typeface="Segoe UI"/>
              </a:rPr>
              <a:t>✗   We never let brands pay to remove or bury a legitimate complaint.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55664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spc="300">
                <a:solidFill>
                  <a:srgbClr val="7A7366"/>
                </a:solidFill>
                <a:latin typeface="Georgia"/>
              </a:rPr>
              <a:t>PANCHAAYAT</a:t>
            </a:r>
            <a:r>
              <a:rPr sz="1200" b="1">
                <a:solidFill>
                  <a:srgbClr val="F26A4B"/>
                </a:solidFill>
                <a:latin typeface="Segoe UI"/>
              </a:rPr>
              <a:t> 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19088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spc="100">
                <a:solidFill>
                  <a:srgbClr val="7A7366"/>
                </a:solidFill>
                <a:latin typeface="Segoe UI"/>
              </a:rPr>
              <a:t>09 / 16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5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5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5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5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5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5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20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15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5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15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30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85800" y="530352"/>
            <a:ext cx="365760" cy="365760"/>
          </a:xfrm>
          <a:prstGeom prst="ellipse">
            <a:avLst/>
          </a:prstGeom>
          <a:noFill/>
          <a:ln w="2032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3076" y="574243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56462" y="687628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43076" y="801014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29691" y="687628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8446" y="672998"/>
            <a:ext cx="80467" cy="80467"/>
          </a:xfrm>
          <a:prstGeom prst="ellipse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457200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spc="300">
                <a:solidFill>
                  <a:srgbClr val="0D9488"/>
                </a:solidFill>
                <a:latin typeface="Segoe UI"/>
              </a:rPr>
              <a:t>COMPETITIVE LANDSCAPE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4124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1B2133"/>
                </a:solidFill>
                <a:latin typeface="Georgia"/>
              </a:rPr>
              <a:t>No incumbent owns the full resolution loop.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664208"/>
            <a:ext cx="777240" cy="502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94760" y="1764791"/>
            <a:ext cx="14813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1100" b="0">
                <a:solidFill>
                  <a:srgbClr val="1B2133"/>
                </a:solidFill>
                <a:latin typeface="Segoe UI"/>
              </a:rPr>
              <a:t>Google</a:t>
            </a:r>
          </a:p>
          <a:p>
            <a:pPr algn="ctr">
              <a:lnSpc>
                <a:spcPct val="90000"/>
              </a:lnSpc>
            </a:pPr>
            <a:r>
              <a:rPr sz="1100" b="0">
                <a:solidFill>
                  <a:srgbClr val="1B2133"/>
                </a:solidFill>
                <a:latin typeface="Segoe UI"/>
              </a:rPr>
              <a:t>Reviews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6088" y="1764791"/>
            <a:ext cx="14813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1100" b="0">
                <a:solidFill>
                  <a:srgbClr val="1B2133"/>
                </a:solidFill>
                <a:latin typeface="Segoe UI"/>
              </a:rPr>
              <a:t>MouthShut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57416" y="1764791"/>
            <a:ext cx="14813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1100" b="0">
                <a:solidFill>
                  <a:srgbClr val="1B2133"/>
                </a:solidFill>
                <a:latin typeface="Segoe UI"/>
              </a:rPr>
              <a:t>NCH /</a:t>
            </a:r>
          </a:p>
          <a:p>
            <a:pPr algn="ctr">
              <a:lnSpc>
                <a:spcPct val="90000"/>
              </a:lnSpc>
            </a:pPr>
            <a:r>
              <a:rPr sz="1100" b="0">
                <a:solidFill>
                  <a:srgbClr val="1B2133"/>
                </a:solidFill>
                <a:latin typeface="Segoe UI"/>
              </a:rPr>
              <a:t>E-Jagriti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1764791"/>
            <a:ext cx="14813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1100" b="0">
                <a:solidFill>
                  <a:srgbClr val="1B2133"/>
                </a:solidFill>
                <a:latin typeface="Segoe UI"/>
              </a:rPr>
              <a:t>Zendesk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74936" y="1764791"/>
            <a:ext cx="1371600" cy="3977639"/>
          </a:xfrm>
          <a:prstGeom prst="roundRect">
            <a:avLst>
              <a:gd name="adj" fmla="val 10000"/>
            </a:avLst>
          </a:prstGeom>
          <a:solidFill>
            <a:srgbClr val="CC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20072" y="1764791"/>
            <a:ext cx="14813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1100" b="1">
                <a:solidFill>
                  <a:srgbClr val="0F766E"/>
                </a:solidFill>
                <a:latin typeface="Segoe UI"/>
              </a:rPr>
              <a:t>Panchaayat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331720"/>
            <a:ext cx="2834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B2133"/>
                </a:solidFill>
                <a:latin typeface="Segoe UI"/>
              </a:rPr>
              <a:t>Public discussion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331720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A7366"/>
                </a:solidFill>
                <a:latin typeface="Segoe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6088" y="2331720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A7366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7416" y="2331720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E3DACC"/>
                </a:solidFill>
                <a:latin typeface="Segoe UI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331720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E3DACC"/>
                </a:solidFill>
                <a:latin typeface="Segoe UI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0072" y="2331720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F766E"/>
                </a:solidFill>
                <a:latin typeface="Segoe UI"/>
              </a:rPr>
              <a:t>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2980944"/>
            <a:ext cx="10424160" cy="10972"/>
          </a:xfrm>
          <a:prstGeom prst="rect">
            <a:avLst/>
          </a:prstGeom>
          <a:solidFill>
            <a:srgbClr val="E3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2990087"/>
            <a:ext cx="2834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B2133"/>
                </a:solidFill>
                <a:latin typeface="Segoe UI"/>
              </a:rPr>
              <a:t>Resolution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2990087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E3DACC"/>
                </a:solidFill>
                <a:latin typeface="Segoe UI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2990087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A7366"/>
                </a:solidFill>
                <a:latin typeface="Segoe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57416" y="2990087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E3DACC"/>
                </a:solidFill>
                <a:latin typeface="Segoe UI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8744" y="2990087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E3DACC"/>
                </a:solidFill>
                <a:latin typeface="Segoe UI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0072" y="2990087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F766E"/>
                </a:solidFill>
                <a:latin typeface="Segoe UI"/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3639311"/>
            <a:ext cx="10424160" cy="10972"/>
          </a:xfrm>
          <a:prstGeom prst="rect">
            <a:avLst/>
          </a:prstGeom>
          <a:solidFill>
            <a:srgbClr val="E3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3648456"/>
            <a:ext cx="2834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B2133"/>
                </a:solidFill>
                <a:latin typeface="Segoe UI"/>
              </a:rPr>
              <a:t>Consumer confirms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3648456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E3DACC"/>
                </a:solidFill>
                <a:latin typeface="Segoe UI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76088" y="3648456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E3DACC"/>
                </a:solidFill>
                <a:latin typeface="Segoe UI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57416" y="3648456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E3DACC"/>
                </a:solidFill>
                <a:latin typeface="Segoe UI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38744" y="3648456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E3DACC"/>
                </a:solidFill>
                <a:latin typeface="Segoe UI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20072" y="3648456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F766E"/>
                </a:solidFill>
                <a:latin typeface="Segoe UI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4297680"/>
            <a:ext cx="10424160" cy="10972"/>
          </a:xfrm>
          <a:prstGeom prst="rect">
            <a:avLst/>
          </a:prstGeom>
          <a:solidFill>
            <a:srgbClr val="E3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8680" y="4306824"/>
            <a:ext cx="2834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B2133"/>
                </a:solidFill>
                <a:latin typeface="Segoe UI"/>
              </a:rPr>
              <a:t>SME case mgmt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4760" y="4306824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E3DACC"/>
                </a:solidFill>
                <a:latin typeface="Segoe UI"/>
              </a:rPr>
              <a:t>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76088" y="4306824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E3DACC"/>
                </a:solidFill>
                <a:latin typeface="Segoe UI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57416" y="4306824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E3DACC"/>
                </a:solidFill>
                <a:latin typeface="Segoe UI"/>
              </a:rPr>
              <a:t>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38744" y="4306824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A7366"/>
                </a:solidFill>
                <a:latin typeface="Segoe U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20072" y="4306824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F766E"/>
                </a:solidFill>
                <a:latin typeface="Segoe UI"/>
              </a:rPr>
              <a:t>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8680" y="4956048"/>
            <a:ext cx="10424160" cy="10972"/>
          </a:xfrm>
          <a:prstGeom prst="rect">
            <a:avLst/>
          </a:prstGeom>
          <a:solidFill>
            <a:srgbClr val="E3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8680" y="4965192"/>
            <a:ext cx="2834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B2133"/>
                </a:solidFill>
                <a:latin typeface="Segoe UI"/>
              </a:rPr>
              <a:t>India-first SEO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94760" y="4965192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E3DACC"/>
                </a:solidFill>
                <a:latin typeface="Segoe UI"/>
              </a:rP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76088" y="4965192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E3DACC"/>
                </a:solidFill>
                <a:latin typeface="Segoe UI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57416" y="4965192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E3DACC"/>
                </a:solidFill>
                <a:latin typeface="Segoe UI"/>
              </a:rPr>
              <a:t>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38744" y="4965192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E3DACC"/>
                </a:solidFill>
                <a:latin typeface="Segoe UI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20072" y="4965192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F766E"/>
                </a:solidFill>
                <a:latin typeface="Segoe UI"/>
              </a:rPr>
              <a:t>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8680" y="5614416"/>
            <a:ext cx="10424160" cy="10972"/>
          </a:xfrm>
          <a:prstGeom prst="rect">
            <a:avLst/>
          </a:prstGeom>
          <a:solidFill>
            <a:srgbClr val="E3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02920" y="6455664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spc="300">
                <a:solidFill>
                  <a:srgbClr val="7A7366"/>
                </a:solidFill>
                <a:latin typeface="Georgia"/>
              </a:rPr>
              <a:t>PANCHAAYAT</a:t>
            </a:r>
            <a:r>
              <a:rPr sz="1200" b="1">
                <a:solidFill>
                  <a:srgbClr val="F26A4B"/>
                </a:solidFill>
                <a:latin typeface="Segoe UI"/>
              </a:rPr>
              <a:t> 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09960" y="6419088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spc="100">
                <a:solidFill>
                  <a:srgbClr val="7A7366"/>
                </a:solidFill>
                <a:latin typeface="Segoe UI"/>
              </a:rPr>
              <a:t>10 / 16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5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5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5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5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5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5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85800" y="530352"/>
            <a:ext cx="365760" cy="365760"/>
          </a:xfrm>
          <a:prstGeom prst="ellipse">
            <a:avLst/>
          </a:prstGeom>
          <a:noFill/>
          <a:ln w="2032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3076" y="574243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56462" y="687628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43076" y="801014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29691" y="687628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8446" y="672998"/>
            <a:ext cx="80467" cy="80467"/>
          </a:xfrm>
          <a:prstGeom prst="ellipse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457200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spc="300">
                <a:solidFill>
                  <a:srgbClr val="0D9488"/>
                </a:solidFill>
                <a:latin typeface="Segoe UI"/>
              </a:rPr>
              <a:t>GO-TO-MARKET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4124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1B2133"/>
                </a:solidFill>
                <a:latin typeface="Georgia"/>
              </a:rPr>
              <a:t>Hyper-local density → national scale.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664208"/>
            <a:ext cx="777240" cy="502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hevron 10"/>
          <p:cNvSpPr/>
          <p:nvPr/>
        </p:nvSpPr>
        <p:spPr>
          <a:xfrm>
            <a:off x="868680" y="2057400"/>
            <a:ext cx="2697480" cy="1600200"/>
          </a:xfrm>
          <a:prstGeom prst="chevron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Phase 1</a:t>
            </a:r>
          </a:p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Seed Pune &amp;</a:t>
            </a:r>
          </a:p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Hyderabad</a:t>
            </a:r>
          </a:p>
        </p:txBody>
      </p:sp>
      <p:sp>
        <p:nvSpPr>
          <p:cNvPr id="12" name="Chevron 11"/>
          <p:cNvSpPr/>
          <p:nvPr/>
        </p:nvSpPr>
        <p:spPr>
          <a:xfrm>
            <a:off x="3566160" y="2057400"/>
            <a:ext cx="2697480" cy="1600200"/>
          </a:xfrm>
          <a:prstGeom prst="chevron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Phase 2</a:t>
            </a:r>
          </a:p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SEO: “[brand]</a:t>
            </a:r>
          </a:p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complaints”</a:t>
            </a:r>
          </a:p>
        </p:txBody>
      </p:sp>
      <p:sp>
        <p:nvSpPr>
          <p:cNvPr id="13" name="Chevron 12"/>
          <p:cNvSpPr/>
          <p:nvPr/>
        </p:nvSpPr>
        <p:spPr>
          <a:xfrm>
            <a:off x="6263640" y="2057400"/>
            <a:ext cx="2697480" cy="1600200"/>
          </a:xfrm>
          <a:prstGeom prst="chevron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Phase 3</a:t>
            </a:r>
          </a:p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SME outbound —</a:t>
            </a:r>
          </a:p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D2C &amp; appliances</a:t>
            </a:r>
          </a:p>
        </p:txBody>
      </p:sp>
      <p:sp>
        <p:nvSpPr>
          <p:cNvPr id="14" name="Chevron 13"/>
          <p:cNvSpPr/>
          <p:nvPr/>
        </p:nvSpPr>
        <p:spPr>
          <a:xfrm>
            <a:off x="8961120" y="2057400"/>
            <a:ext cx="2697480" cy="1600200"/>
          </a:xfrm>
          <a:prstGeom prst="chevron">
            <a:avLst/>
          </a:prstGeom>
          <a:solidFill>
            <a:srgbClr val="6D5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Phase 4</a:t>
            </a:r>
          </a:p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Enterprise API —</a:t>
            </a:r>
          </a:p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banks &amp; insurers</a:t>
            </a:r>
          </a:p>
        </p:txBody>
      </p:sp>
      <p:sp>
        <p:nvSpPr>
          <p:cNvPr id="15" name="Oval 14"/>
          <p:cNvSpPr/>
          <p:nvPr/>
        </p:nvSpPr>
        <p:spPr>
          <a:xfrm>
            <a:off x="950976" y="4187952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206240"/>
            <a:ext cx="9509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1B2133"/>
                </a:solidFill>
                <a:latin typeface="Segoe UI"/>
              </a:rPr>
              <a:t>Viral growth via Me Too, trending &amp; recently-resolved feeds</a:t>
            </a:r>
          </a:p>
        </p:txBody>
      </p:sp>
      <p:sp>
        <p:nvSpPr>
          <p:cNvPr id="17" name="Oval 16"/>
          <p:cNvSpPr/>
          <p:nvPr/>
        </p:nvSpPr>
        <p:spPr>
          <a:xfrm>
            <a:off x="950976" y="484632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864607"/>
            <a:ext cx="9509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1B2133"/>
                </a:solidFill>
                <a:latin typeface="Segoe UI"/>
              </a:rPr>
              <a:t>Free trial converts SMEs; email-sync lock-in curbs churn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5504688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5522975"/>
            <a:ext cx="9509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1B2133"/>
                </a:solidFill>
                <a:latin typeface="Segoe UI"/>
              </a:rPr>
              <a:t>Roadmap: partner with NCH / E-Jagriti for escalations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55664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spc="300">
                <a:solidFill>
                  <a:srgbClr val="7A7366"/>
                </a:solidFill>
                <a:latin typeface="Georgia"/>
              </a:rPr>
              <a:t>PANCHAAYAT</a:t>
            </a:r>
            <a:r>
              <a:rPr sz="1200" b="1">
                <a:solidFill>
                  <a:srgbClr val="F26A4B"/>
                </a:solidFill>
                <a:latin typeface="Segoe UI"/>
              </a:rPr>
              <a:t> 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19088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spc="100">
                <a:solidFill>
                  <a:srgbClr val="7A7366"/>
                </a:solidFill>
                <a:latin typeface="Segoe UI"/>
              </a:rPr>
              <a:t>11 / 16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5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5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5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5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5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5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20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20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20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20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18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12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12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85800" y="530352"/>
            <a:ext cx="365760" cy="365760"/>
          </a:xfrm>
          <a:prstGeom prst="ellipse">
            <a:avLst/>
          </a:prstGeom>
          <a:noFill/>
          <a:ln w="2032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3076" y="574243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56462" y="687628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43076" y="801014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29691" y="687628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8446" y="672998"/>
            <a:ext cx="80467" cy="80467"/>
          </a:xfrm>
          <a:prstGeom prst="ellipse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457200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spc="300">
                <a:solidFill>
                  <a:srgbClr val="0D9488"/>
                </a:solidFill>
                <a:latin typeface="Segoe UI"/>
              </a:rPr>
              <a:t>TRACTION &amp; KPIS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4124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1B2133"/>
                </a:solidFill>
                <a:latin typeface="Georgia"/>
              </a:rPr>
              <a:t>Where we are today — and what we measure.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664208"/>
            <a:ext cx="777240" cy="502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68680" y="2011680"/>
            <a:ext cx="242316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121408"/>
            <a:ext cx="2423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0D9488"/>
                </a:solidFill>
                <a:latin typeface="Georgia"/>
              </a:rPr>
              <a:t>MVP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2423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A7366"/>
                </a:solidFill>
                <a:latin typeface="Segoe UI"/>
              </a:rPr>
              <a:t>live &amp; deployed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39" y="2011680"/>
            <a:ext cx="242316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F26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0439" y="2121408"/>
            <a:ext cx="2423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26A4B"/>
                </a:solidFill>
                <a:latin typeface="Georgia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39" y="2889504"/>
            <a:ext cx="2423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A7366"/>
                </a:solidFill>
                <a:latin typeface="Segoe UI"/>
              </a:rPr>
              <a:t>demo personas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011680"/>
            <a:ext cx="242316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72200" y="2121408"/>
            <a:ext cx="2423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E0A82E"/>
                </a:solidFill>
                <a:latin typeface="Georgia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889504"/>
            <a:ext cx="2423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A7366"/>
                </a:solidFill>
                <a:latin typeface="Segoe UI"/>
              </a:rPr>
              <a:t>seeded brands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59" y="2011680"/>
            <a:ext cx="242316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6D5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23959" y="2121408"/>
            <a:ext cx="2423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6D5DD3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59" y="2889504"/>
            <a:ext cx="2423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A7366"/>
                </a:solidFill>
                <a:latin typeface="Segoe UI"/>
              </a:rPr>
              <a:t>SaaS tiers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703320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B2133"/>
                </a:solidFill>
                <a:latin typeface="Georgia"/>
              </a:rPr>
              <a:t>North-star metrics we will report</a:t>
            </a:r>
          </a:p>
        </p:txBody>
      </p:sp>
      <p:sp>
        <p:nvSpPr>
          <p:cNvPr id="24" name="Oval 23"/>
          <p:cNvSpPr/>
          <p:nvPr/>
        </p:nvSpPr>
        <p:spPr>
          <a:xfrm>
            <a:off x="969264" y="4187952"/>
            <a:ext cx="402336" cy="402336"/>
          </a:xfrm>
          <a:prstGeom prst="ellipse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178807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B2133"/>
                </a:solidFill>
                <a:latin typeface="Segoe UI"/>
              </a:rPr>
              <a:t>Brand response under 7 days</a:t>
            </a:r>
          </a:p>
        </p:txBody>
      </p:sp>
      <p:sp>
        <p:nvSpPr>
          <p:cNvPr id="26" name="Oval 25"/>
          <p:cNvSpPr/>
          <p:nvPr/>
        </p:nvSpPr>
        <p:spPr>
          <a:xfrm>
            <a:off x="969264" y="4736592"/>
            <a:ext cx="402336" cy="40233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727447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B2133"/>
                </a:solidFill>
                <a:latin typeface="Segoe UI"/>
              </a:rPr>
              <a:t>Consumer-confirmed resolution rate</a:t>
            </a:r>
          </a:p>
        </p:txBody>
      </p:sp>
      <p:sp>
        <p:nvSpPr>
          <p:cNvPr id="28" name="Oval 27"/>
          <p:cNvSpPr/>
          <p:nvPr/>
        </p:nvSpPr>
        <p:spPr>
          <a:xfrm>
            <a:off x="969264" y="5285232"/>
            <a:ext cx="402336" cy="402336"/>
          </a:xfrm>
          <a:prstGeom prst="ellipse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276088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B2133"/>
                </a:solidFill>
                <a:latin typeface="Segoe UI"/>
              </a:rPr>
              <a:t>Median time-to-resolution</a:t>
            </a:r>
          </a:p>
        </p:txBody>
      </p:sp>
      <p:sp>
        <p:nvSpPr>
          <p:cNvPr id="30" name="Oval 29"/>
          <p:cNvSpPr/>
          <p:nvPr/>
        </p:nvSpPr>
        <p:spPr>
          <a:xfrm>
            <a:off x="969264" y="5833872"/>
            <a:ext cx="402336" cy="402336"/>
          </a:xfrm>
          <a:prstGeom prst="ellipse">
            <a:avLst/>
          </a:prstGeom>
          <a:solidFill>
            <a:srgbClr val="6D5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824727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B2133"/>
                </a:solidFill>
                <a:latin typeface="Segoe UI"/>
              </a:rPr>
              <a:t>SME trial → paid conversion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55664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spc="300">
                <a:solidFill>
                  <a:srgbClr val="7A7366"/>
                </a:solidFill>
                <a:latin typeface="Georgia"/>
              </a:rPr>
              <a:t>PANCHAAYAT</a:t>
            </a:r>
            <a:r>
              <a:rPr sz="1200" b="1">
                <a:solidFill>
                  <a:srgbClr val="F26A4B"/>
                </a:solidFill>
                <a:latin typeface="Segoe UI"/>
              </a:rPr>
              <a:t> 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19088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spc="100">
                <a:solidFill>
                  <a:srgbClr val="7A7366"/>
                </a:solidFill>
                <a:latin typeface="Segoe UI"/>
              </a:rPr>
              <a:t>12 / 16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5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5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5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5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5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5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20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4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15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44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15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44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15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44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15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9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9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9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85800" y="530352"/>
            <a:ext cx="365760" cy="365760"/>
          </a:xfrm>
          <a:prstGeom prst="ellipse">
            <a:avLst/>
          </a:prstGeom>
          <a:noFill/>
          <a:ln w="2032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3076" y="574243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56462" y="687628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43076" y="801014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29691" y="687628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8446" y="672998"/>
            <a:ext cx="80467" cy="80467"/>
          </a:xfrm>
          <a:prstGeom prst="ellipse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457200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spc="300">
                <a:solidFill>
                  <a:srgbClr val="0D9488"/>
                </a:solidFill>
                <a:latin typeface="Segoe UI"/>
              </a:rPr>
              <a:t>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4124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1B2133"/>
                </a:solidFill>
                <a:latin typeface="Georgia"/>
              </a:rPr>
              <a:t>A 12–18 month product &amp; GTM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664208"/>
            <a:ext cx="777240" cy="502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88720" y="3776472"/>
            <a:ext cx="9784080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408176" y="3648456"/>
            <a:ext cx="292608" cy="292608"/>
          </a:xfrm>
          <a:prstGeom prst="ellipse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94359" y="2240280"/>
            <a:ext cx="192024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3D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313432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26A4B"/>
                </a:solidFill>
                <a:latin typeface="Georgia"/>
              </a:rPr>
              <a:t>Q2 ’26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79192"/>
            <a:ext cx="1828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A7366"/>
                </a:solidFill>
                <a:latin typeface="Segoe UI"/>
              </a:rPr>
              <a:t>10 SME pilots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A7366"/>
                </a:solidFill>
                <a:latin typeface="Segoe UI"/>
              </a:rPr>
              <a:t>Postgres + PWA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554480" y="3246120"/>
            <a:ext cx="0" cy="548640"/>
          </a:xfrm>
          <a:prstGeom prst="line">
            <a:avLst/>
          </a:prstGeom>
          <a:ln w="15875">
            <a:solidFill>
              <a:srgbClr val="E3D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694176" y="3648456"/>
            <a:ext cx="292608" cy="29260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880360" y="4343400"/>
            <a:ext cx="192024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3D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26080" y="4416552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F766E"/>
                </a:solidFill>
                <a:latin typeface="Georgia"/>
              </a:rPr>
              <a:t>Q3 ’26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782312"/>
            <a:ext cx="1828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A7366"/>
                </a:solidFill>
                <a:latin typeface="Segoe UI"/>
              </a:rPr>
              <a:t>Email→case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A7366"/>
                </a:solidFill>
                <a:latin typeface="Segoe UI"/>
              </a:rPr>
              <a:t>Hindi UI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40480" y="3794760"/>
            <a:ext cx="0" cy="548640"/>
          </a:xfrm>
          <a:prstGeom prst="line">
            <a:avLst/>
          </a:prstGeom>
          <a:ln w="15875">
            <a:solidFill>
              <a:srgbClr val="E3D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980176" y="3648456"/>
            <a:ext cx="292608" cy="29260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166360" y="2240280"/>
            <a:ext cx="192024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3D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12080" y="2313432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F766E"/>
                </a:solidFill>
                <a:latin typeface="Georgia"/>
              </a:rPr>
              <a:t>Q4 ’26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2679192"/>
            <a:ext cx="1828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A7366"/>
                </a:solidFill>
                <a:latin typeface="Segoe UI"/>
              </a:rPr>
              <a:t>Social listening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A7366"/>
                </a:solidFill>
                <a:latin typeface="Segoe UI"/>
              </a:rPr>
              <a:t>100 paying SMEs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6126480" y="3246120"/>
            <a:ext cx="0" cy="548640"/>
          </a:xfrm>
          <a:prstGeom prst="line">
            <a:avLst/>
          </a:prstGeom>
          <a:ln w="15875">
            <a:solidFill>
              <a:srgbClr val="E3D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266175" y="3648456"/>
            <a:ext cx="292608" cy="29260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452359" y="4343400"/>
            <a:ext cx="192024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3D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98079" y="4416552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F766E"/>
                </a:solidFill>
                <a:latin typeface="Georgia"/>
              </a:rPr>
              <a:t>Q1 ’27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4782312"/>
            <a:ext cx="1828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A7366"/>
                </a:solidFill>
                <a:latin typeface="Segoe UI"/>
              </a:rPr>
              <a:t>Enterprise API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A7366"/>
                </a:solidFill>
                <a:latin typeface="Segoe UI"/>
              </a:rPr>
              <a:t>5 logos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12480" y="3794760"/>
            <a:ext cx="0" cy="548640"/>
          </a:xfrm>
          <a:prstGeom prst="line">
            <a:avLst/>
          </a:prstGeom>
          <a:ln w="15875">
            <a:solidFill>
              <a:srgbClr val="E3D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0552176" y="3648456"/>
            <a:ext cx="292608" cy="29260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738359" y="2240280"/>
            <a:ext cx="192024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3D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784080" y="2313432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F766E"/>
                </a:solidFill>
                <a:latin typeface="Georgia"/>
              </a:rPr>
              <a:t>Q2 ’27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2679192"/>
            <a:ext cx="1828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A7366"/>
                </a:solidFill>
                <a:latin typeface="Segoe UI"/>
              </a:rPr>
              <a:t>Mobile apps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A7366"/>
                </a:solidFill>
                <a:latin typeface="Segoe UI"/>
              </a:rPr>
              <a:t>Tier-2 cities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10698480" y="3246120"/>
            <a:ext cx="0" cy="548640"/>
          </a:xfrm>
          <a:prstGeom prst="line">
            <a:avLst/>
          </a:prstGeom>
          <a:ln w="15875">
            <a:solidFill>
              <a:srgbClr val="E3D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02920" y="6455664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spc="300">
                <a:solidFill>
                  <a:srgbClr val="7A7366"/>
                </a:solidFill>
                <a:latin typeface="Georgia"/>
              </a:rPr>
              <a:t>PANCHAAYAT</a:t>
            </a:r>
            <a:r>
              <a:rPr sz="1200" b="1">
                <a:solidFill>
                  <a:srgbClr val="F26A4B"/>
                </a:solidFill>
                <a:latin typeface="Segoe UI"/>
              </a:rPr>
              <a:t> 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19088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spc="100">
                <a:solidFill>
                  <a:srgbClr val="7A7366"/>
                </a:solidFill>
                <a:latin typeface="Segoe UI"/>
              </a:rPr>
              <a:t>13 / 16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5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5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5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5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5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5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20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15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3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11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3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11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3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11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3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11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3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11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3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11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38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110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38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11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38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11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38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85800" y="530352"/>
            <a:ext cx="365760" cy="365760"/>
          </a:xfrm>
          <a:prstGeom prst="ellipse">
            <a:avLst/>
          </a:prstGeom>
          <a:noFill/>
          <a:ln w="2032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3076" y="574243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56462" y="687628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43076" y="801014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29691" y="687628"/>
            <a:ext cx="51206" cy="5120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8446" y="672998"/>
            <a:ext cx="80467" cy="80467"/>
          </a:xfrm>
          <a:prstGeom prst="ellipse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457200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spc="300">
                <a:solidFill>
                  <a:srgbClr val="0D9488"/>
                </a:solidFill>
                <a:latin typeface="Segoe UI"/>
              </a:rPr>
              <a:t>RISKS &amp; MITIGATIONS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4124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1B2133"/>
                </a:solidFill>
                <a:latin typeface="Georgia"/>
              </a:rPr>
              <a:t>An honest assessment for investors.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664208"/>
            <a:ext cx="777240" cy="502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68680" y="2011680"/>
            <a:ext cx="2514600" cy="621792"/>
          </a:xfrm>
          <a:prstGeom prst="roundRect">
            <a:avLst>
              <a:gd name="adj" fmla="val 12000"/>
            </a:avLst>
          </a:prstGeom>
          <a:solidFill>
            <a:srgbClr val="DC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Georgia"/>
              </a:rPr>
              <a:t>Defamation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520440" y="2212848"/>
            <a:ext cx="457200" cy="219456"/>
          </a:xfrm>
          <a:prstGeom prst="rightArrow">
            <a:avLst/>
          </a:prstGeom>
          <a:solidFill>
            <a:srgbClr val="E3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160520" y="2011680"/>
            <a:ext cx="717804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3D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50" b="0">
                <a:solidFill>
                  <a:srgbClr val="1B2133"/>
                </a:solidFill>
                <a:latin typeface="Segoe UI"/>
              </a:rPr>
              <a:t>   Clear ToS · evidence requirement · takedown &amp; appeal 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816352"/>
            <a:ext cx="2514600" cy="621792"/>
          </a:xfrm>
          <a:prstGeom prst="roundRect">
            <a:avLst>
              <a:gd name="adj" fmla="val 12000"/>
            </a:avLst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Georgia"/>
              </a:rPr>
              <a:t>Fake reviews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20440" y="3017520"/>
            <a:ext cx="457200" cy="219456"/>
          </a:xfrm>
          <a:prstGeom prst="rightArrow">
            <a:avLst/>
          </a:prstGeom>
          <a:solidFill>
            <a:srgbClr val="E3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160520" y="2816352"/>
            <a:ext cx="717804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3D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50" b="0">
                <a:solidFill>
                  <a:srgbClr val="1B2133"/>
                </a:solidFill>
                <a:latin typeface="Segoe UI"/>
              </a:rPr>
              <a:t>   Verified-purchase signal + active moderation queue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621024"/>
            <a:ext cx="2514600" cy="621792"/>
          </a:xfrm>
          <a:prstGeom prst="roundRect">
            <a:avLst>
              <a:gd name="adj" fmla="val 12000"/>
            </a:avLst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Georgia"/>
              </a:rPr>
              <a:t>Cold start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520440" y="3822191"/>
            <a:ext cx="457200" cy="219456"/>
          </a:xfrm>
          <a:prstGeom prst="rightArrow">
            <a:avLst/>
          </a:prstGeom>
          <a:solidFill>
            <a:srgbClr val="E3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160520" y="3621024"/>
            <a:ext cx="717804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3D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50" b="0">
                <a:solidFill>
                  <a:srgbClr val="1B2133"/>
                </a:solidFill>
                <a:latin typeface="Segoe UI"/>
              </a:rPr>
              <a:t>   Hyper-local seeding + SEO complaint pages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425696"/>
            <a:ext cx="2514600" cy="621792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Georgia"/>
              </a:rPr>
              <a:t>Brand apathy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520440" y="4626864"/>
            <a:ext cx="457200" cy="219456"/>
          </a:xfrm>
          <a:prstGeom prst="rightArrow">
            <a:avLst/>
          </a:prstGeom>
          <a:solidFill>
            <a:srgbClr val="E3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160520" y="4425696"/>
            <a:ext cx="717804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3D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50" b="0">
                <a:solidFill>
                  <a:srgbClr val="1B2133"/>
                </a:solidFill>
                <a:latin typeface="Segoe UI"/>
              </a:rPr>
              <a:t>   Public pages rank for “[brand] complaints” on Google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5230368"/>
            <a:ext cx="2514600" cy="621792"/>
          </a:xfrm>
          <a:prstGeom prst="roundRect">
            <a:avLst>
              <a:gd name="adj" fmla="val 12000"/>
            </a:avLst>
          </a:prstGeom>
          <a:solidFill>
            <a:srgbClr val="6D5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Georgia"/>
              </a:rPr>
              <a:t>SME churn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520440" y="5431536"/>
            <a:ext cx="457200" cy="219456"/>
          </a:xfrm>
          <a:prstGeom prst="rightArrow">
            <a:avLst/>
          </a:prstGeom>
          <a:solidFill>
            <a:srgbClr val="E3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160520" y="5230368"/>
            <a:ext cx="717804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3D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50" b="0">
                <a:solidFill>
                  <a:srgbClr val="1B2133"/>
                </a:solidFill>
                <a:latin typeface="Segoe UI"/>
              </a:rPr>
              <a:t>   Email-sync lock-in + 30-day money-back guarantee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55664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spc="300">
                <a:solidFill>
                  <a:srgbClr val="7A7366"/>
                </a:solidFill>
                <a:latin typeface="Georgia"/>
              </a:rPr>
              <a:t>PANCHAAYAT</a:t>
            </a:r>
            <a:r>
              <a:rPr sz="1200" b="1">
                <a:solidFill>
                  <a:srgbClr val="F26A4B"/>
                </a:solidFill>
                <a:latin typeface="Segoe UI"/>
              </a:rPr>
              <a:t> 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19088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spc="100">
                <a:solidFill>
                  <a:srgbClr val="7A7366"/>
                </a:solidFill>
                <a:latin typeface="Segoe UI"/>
              </a:rPr>
              <a:t>14 / 16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5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5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5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5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5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5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20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9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9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9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9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9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9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9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9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9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9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9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9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9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9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34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69680" y="-1188719"/>
            <a:ext cx="4206240" cy="4206240"/>
          </a:xfrm>
          <a:prstGeom prst="ellipse">
            <a:avLst/>
          </a:prstGeom>
          <a:noFill/>
          <a:ln w="25400">
            <a:solidFill>
              <a:srgbClr val="1E2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" y="640080"/>
            <a:ext cx="548640" cy="548640"/>
          </a:xfrm>
          <a:prstGeom prst="ellipse">
            <a:avLst/>
          </a:prstGeom>
          <a:noFill/>
          <a:ln w="3048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21715" y="705916"/>
            <a:ext cx="76809" cy="76809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1793" y="875995"/>
            <a:ext cx="76809" cy="76809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21715" y="1046073"/>
            <a:ext cx="76809" cy="76809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51636" y="875995"/>
            <a:ext cx="76809" cy="76809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99769" y="854049"/>
            <a:ext cx="120700" cy="120700"/>
          </a:xfrm>
          <a:prstGeom prst="ellipse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658368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spc="300">
                <a:solidFill>
                  <a:srgbClr val="0D9488"/>
                </a:solidFill>
                <a:latin typeface="Segoe UI"/>
              </a:rPr>
              <a:t>THE 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3444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3EEE6"/>
                </a:solidFill>
                <a:latin typeface="Georgia"/>
              </a:rPr>
              <a:t>Partner with us to build the trust layer.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468880"/>
            <a:ext cx="10607040" cy="1051560"/>
          </a:xfrm>
          <a:prstGeom prst="roundRect">
            <a:avLst>
              <a:gd name="adj" fmla="val 8000"/>
            </a:avLst>
          </a:prstGeom>
          <a:solidFill>
            <a:srgbClr val="1E253F"/>
          </a:solidFill>
          <a:ln w="25400">
            <a:solidFill>
              <a:srgbClr val="F26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2468880"/>
            <a:ext cx="109728" cy="1051560"/>
          </a:xfrm>
          <a:prstGeom prst="rect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2606040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26A4B"/>
                </a:solidFill>
                <a:latin typeface="Georgia"/>
              </a:rPr>
              <a:t>₹ [X] Cr seed 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072384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3EEE6"/>
                </a:solidFill>
                <a:latin typeface="Segoe UI"/>
              </a:rPr>
              <a:t>Customize this figure before presenting.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703320"/>
            <a:ext cx="10607040" cy="1051560"/>
          </a:xfrm>
          <a:prstGeom prst="roundRect">
            <a:avLst>
              <a:gd name="adj" fmla="val 8000"/>
            </a:avLst>
          </a:prstGeom>
          <a:solidFill>
            <a:srgbClr val="1E253F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3703320"/>
            <a:ext cx="109728" cy="10515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3840480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0D9488"/>
                </a:solidFill>
                <a:latin typeface="Georgia"/>
              </a:rPr>
              <a:t>Use of funds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306824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3EEE6"/>
                </a:solidFill>
                <a:latin typeface="Segoe UI"/>
              </a:rPr>
              <a:t>40% GTM &amp; sales   ·   30% engineering   ·   20% ops &amp; legal   ·   10% buffer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937760"/>
            <a:ext cx="10607040" cy="1051560"/>
          </a:xfrm>
          <a:prstGeom prst="roundRect">
            <a:avLst>
              <a:gd name="adj" fmla="val 8000"/>
            </a:avLst>
          </a:prstGeom>
          <a:solidFill>
            <a:srgbClr val="1E253F"/>
          </a:solidFill>
          <a:ln w="2540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109728" cy="1051560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5074920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E0A82E"/>
                </a:solidFill>
                <a:latin typeface="Georgia"/>
              </a:rPr>
              <a:t>12-month milestones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541264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3EEE6"/>
                </a:solidFill>
                <a:latin typeface="Segoe UI"/>
              </a:rPr>
              <a:t>100 paying SMEs      ·      10K MAU      ·      1 enterprise pilot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55664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spc="300">
                <a:solidFill>
                  <a:srgbClr val="F3EEE6"/>
                </a:solidFill>
                <a:latin typeface="Georgia"/>
              </a:rPr>
              <a:t>PANCHAAYAT</a:t>
            </a:r>
            <a:r>
              <a:rPr sz="1200" b="1">
                <a:solidFill>
                  <a:srgbClr val="F26A4B"/>
                </a:solidFill>
                <a:latin typeface="Segoe UI"/>
              </a:rPr>
              <a:t> 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19088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spc="100">
                <a:solidFill>
                  <a:srgbClr val="F3EEE6"/>
                </a:solidFill>
                <a:latin typeface="Segoe UI"/>
              </a:rPr>
              <a:t>15 / 16</a:t>
            </a:r>
          </a:p>
        </p:txBody>
      </p:sp>
    </p:spTree>
  </p:cSld>
  <p:clrMapOvr>
    <a:masterClrMapping/>
  </p:clrMapOvr>
  <p:transition spd="med"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2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5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5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5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5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15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12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20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26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26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457200" y="3657600"/>
            <a:ext cx="4389120" cy="4389120"/>
          </a:xfrm>
          <a:prstGeom prst="ellipse">
            <a:avLst/>
          </a:prstGeom>
          <a:noFill/>
          <a:ln w="25400">
            <a:solidFill>
              <a:srgbClr val="1E2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82879" y="4297680"/>
            <a:ext cx="3108960" cy="3108960"/>
          </a:xfrm>
          <a:prstGeom prst="ellipse">
            <a:avLst/>
          </a:prstGeom>
          <a:noFill/>
          <a:ln w="25400">
            <a:solidFill>
              <a:srgbClr val="1E2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632704" y="1463040"/>
            <a:ext cx="914400" cy="914400"/>
          </a:xfrm>
          <a:prstGeom prst="ellipse">
            <a:avLst/>
          </a:prstGeom>
          <a:noFill/>
          <a:ln w="508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025896" y="1572768"/>
            <a:ext cx="128016" cy="128016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309359" y="1856232"/>
            <a:ext cx="128016" cy="128016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025896" y="2139696"/>
            <a:ext cx="128016" cy="128016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742432" y="1856232"/>
            <a:ext cx="128016" cy="128016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989320" y="1819656"/>
            <a:ext cx="201168" cy="201168"/>
          </a:xfrm>
          <a:prstGeom prst="ellipse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109728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3EEE6"/>
                </a:solidFill>
                <a:latin typeface="Georgia"/>
              </a:rPr>
              <a:t>Thank you.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32704" y="3886200"/>
            <a:ext cx="914400" cy="54864"/>
          </a:xfrm>
          <a:prstGeom prst="rect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069080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CCE9E5"/>
                </a:solidFill>
                <a:latin typeface="Georgia"/>
              </a:rPr>
              <a:t>Make it visible.   Get it resolved.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92040"/>
            <a:ext cx="109728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F3EEE6"/>
                </a:solidFill>
                <a:latin typeface="Segoe UI"/>
              </a:rPr>
              <a:t>Demo    [your-vercel-url].vercel.app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F3EEE6"/>
                </a:solidFill>
                <a:latin typeface="Segoe UI"/>
              </a:rPr>
              <a:t>GitHub    github.com/himsinghvi/panchayat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F3EEE6"/>
                </a:solidFill>
                <a:latin typeface="Segoe UI"/>
              </a:rPr>
              <a:t>Email    [founder@email.com]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5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6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6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6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6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15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15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20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25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1040</Words>
  <Application>Microsoft Office PowerPoint</Application>
  <PresentationFormat>Widescreen</PresentationFormat>
  <Paragraphs>305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Georgia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Singhvi, Himanshu</cp:lastModifiedBy>
  <cp:revision>3</cp:revision>
  <dcterms:created xsi:type="dcterms:W3CDTF">2013-01-27T09:14:16Z</dcterms:created>
  <dcterms:modified xsi:type="dcterms:W3CDTF">2026-09-04T15:50:57Z</dcterms:modified>
  <cp:category/>
</cp:coreProperties>
</file>