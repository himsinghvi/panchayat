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840480"/>
            <a:ext cx="9144000" cy="3017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79476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0690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Panchaayat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92040"/>
            <a:ext cx="7772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BEAFE"/>
                </a:solidFill>
              </a:defRPr>
            </a:pPr>
            <a:r>
              <a:t>India's public record for consumer resolutions — and case management SMEs can trust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8064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59E0B"/>
                </a:solidFill>
              </a:defRPr>
            </a:pPr>
            <a:r>
              <a:t>Investor &amp; Partnership Pitch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The Problem</a:t>
            </a:r>
          </a:p>
          <a:p>
            <a:pPr>
              <a:defRPr sz="1200">
                <a:solidFill>
                  <a:srgbClr val="DBEAFE"/>
                </a:solidFill>
              </a:defRPr>
            </a:pPr>
            <a:r>
              <a:t>Fragmented complaints. No accountability. No closed loop.</a:t>
            </a:r>
          </a:p>
        </p:txBody>
      </p:sp>
      <p:pic>
        <p:nvPicPr>
          <p:cNvPr id="3" name="Picture 2" descr="deck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303520" cy="3474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52160" y="1371600"/>
            <a:ext cx="2926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Reviews, complaints &amp; grievances live in silos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Brands self-mark issues 'resolved' without proof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SMEs lose queries in shared email inboxes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Consumers can't see real resolution track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Panchaayat — Confidential  | 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Market Opportunity</a:t>
            </a:r>
          </a:p>
          <a:p>
            <a:pPr>
              <a:defRPr sz="1200">
                <a:solidFill>
                  <a:srgbClr val="DBEAFE"/>
                </a:solidFill>
              </a:defRPr>
            </a:pPr>
            <a:r>
              <a:t>India-first — massive consumer economy + underserved SME support</a:t>
            </a:r>
          </a:p>
        </p:txBody>
      </p:sp>
      <p:pic>
        <p:nvPicPr>
          <p:cNvPr id="3" name="Picture 2" descr="chart_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8503920" cy="4114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5349240"/>
            <a:ext cx="8229600" cy="685800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0F172A"/>
                </a:solidFill>
              </a:defRPr>
            </a:pPr>
            <a:r>
              <a:t>Wedge: SEO on '[Brand] complaints' + affordable SME SaaS vs. Zendesk/Freshdesk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Panchaayat — Confidential  | 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The Solution</a:t>
            </a:r>
          </a:p>
          <a:p>
            <a:pPr>
              <a:defRPr sz="1200">
                <a:solidFill>
                  <a:srgbClr val="DBEAFE"/>
                </a:solidFill>
              </a:defRPr>
            </a:pPr>
            <a:r>
              <a:t>One platform — public reputation + private case management</a:t>
            </a:r>
          </a:p>
        </p:txBody>
      </p:sp>
      <p:sp>
        <p:nvSpPr>
          <p:cNvPr id="3" name="Oval 2"/>
          <p:cNvSpPr/>
          <p:nvPr/>
        </p:nvSpPr>
        <p:spPr>
          <a:xfrm>
            <a:off x="3749039" y="2971800"/>
            <a:ext cx="1645920" cy="10058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Panchaayat</a:t>
            </a:r>
            <a:br/>
            <a:r>
              <a:t>Hub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828800"/>
            <a:ext cx="1371600" cy="7772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Public</a:t>
            </a:r>
            <a:br/>
            <a:r>
              <a:t>Complaints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783080" y="2212848"/>
            <a:ext cx="2788920" cy="1261872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132320" y="1828800"/>
            <a:ext cx="1371600" cy="7772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Brand</a:t>
            </a:r>
            <a:br/>
            <a:r>
              <a:t>Profiles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4572000" y="2212848"/>
            <a:ext cx="3246120" cy="1261872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097280" y="4754880"/>
            <a:ext cx="1371600" cy="777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SME Case</a:t>
            </a:r>
            <a:br/>
            <a:r>
              <a:t>Management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783080" y="3474720"/>
            <a:ext cx="2788920" cy="1664208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132320" y="4754880"/>
            <a:ext cx="1371600" cy="7772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AI + API</a:t>
            </a:r>
            <a:br/>
            <a:r>
              <a:t>Layer</a:t>
            </a:r>
          </a:p>
        </p:txBody>
      </p:sp>
      <p:cxnSp>
        <p:nvCxnSpPr>
          <p:cNvPr id="11" name="Connector 10"/>
          <p:cNvCxnSpPr/>
          <p:nvPr/>
        </p:nvCxnSpPr>
        <p:spPr>
          <a:xfrm flipH="1" flipV="1">
            <a:off x="4572000" y="3474720"/>
            <a:ext cx="3246120" cy="1664208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Make it visible. Get it resolved. Verified by you.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Panchaayat — Confidential  | 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How It Works</a:t>
            </a:r>
          </a:p>
          <a:p>
            <a:pPr>
              <a:defRPr sz="1200">
                <a:solidFill>
                  <a:srgbClr val="DBEAFE"/>
                </a:solidFill>
              </a:defRPr>
            </a:pPr>
            <a:r>
              <a:t>Consumer-confirmed resolution — our core differentiator</a:t>
            </a:r>
          </a:p>
        </p:txBody>
      </p:sp>
      <p:pic>
        <p:nvPicPr>
          <p:cNvPr id="3" name="Picture 2" descr="chart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8595360" cy="2926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2062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Guest or registered users post with evidence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Community discusses; Me Too builds pressure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Brands respond officially on the public record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Only the original consumer can close the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Panchaayat — Confidential  | 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Product — MVP Live</a:t>
            </a:r>
          </a:p>
          <a:p>
            <a:pPr>
              <a:defRPr sz="1200">
                <a:solidFill>
                  <a:srgbClr val="DBEAFE"/>
                </a:solidFill>
              </a:defRPr>
            </a:pPr>
            <a:r>
              <a:t>Full-stack platform deployed and demo-ready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143000"/>
            <a:ext cx="1828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1280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52728"/>
            <a:ext cx="1097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Complaint Wizard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AI draft &amp; quality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31720" y="1143000"/>
            <a:ext cx="1828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468879" y="128016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1800" y="1252728"/>
            <a:ext cx="1097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Smart Search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NL queries + synonyms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143000"/>
            <a:ext cx="1828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34840" y="128016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1252728"/>
            <a:ext cx="1097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Brand Dashboard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KPIs + inbox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143000"/>
            <a:ext cx="1828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0" y="1280160"/>
            <a:ext cx="411480" cy="41148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1252728"/>
            <a:ext cx="1097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Resolution Loop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Propose → confirm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834640"/>
            <a:ext cx="1828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02920" y="297180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944368"/>
            <a:ext cx="1097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Public Feed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Trending + resolved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31720" y="2834640"/>
            <a:ext cx="1828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468879" y="297180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1800" y="2944368"/>
            <a:ext cx="1097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Admin + Ads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AI targeting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2834640"/>
            <a:ext cx="1828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34840" y="297180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0" y="2944368"/>
            <a:ext cx="1097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B2B Pages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Pricing + API docs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834640"/>
            <a:ext cx="1828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0800" y="2971800"/>
            <a:ext cx="411480" cy="41148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03720" y="2944368"/>
            <a:ext cx="1097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Themes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Dark / light mode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4480560"/>
            <a:ext cx="8412480" cy="13716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Live Demo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github.com/himsinghvi/panchayat  •  Login: admin / demo123  •  8 personas, 6 brands, seeded complaints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Panchaayat — Confidential  | 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B2B — For Business</a:t>
            </a:r>
          </a:p>
          <a:p>
            <a:pPr>
              <a:defRPr sz="1200">
                <a:solidFill>
                  <a:srgbClr val="DBEAFE"/>
                </a:solidFill>
              </a:defRPr>
            </a:pPr>
            <a:r>
              <a:t>Turn your inbox into a case management system</a:t>
            </a:r>
          </a:p>
        </p:txBody>
      </p:sp>
      <p:pic>
        <p:nvPicPr>
          <p:cNvPr id="3" name="Picture 2" descr="deck_b2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50292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577840" y="1280160"/>
            <a:ext cx="3200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Branded page: panchaayat.in/yourbrand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2-way email-to-case sync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Case ID, status, owner for every query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Private by default; public escalation if unresolved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CSAT/NPS + SLA dashboards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14-day free trial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Panchaayat — Confidential  | 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SaaS Pricing</a:t>
            </a:r>
          </a:p>
          <a:p>
            <a:pPr>
              <a:defRPr sz="1200">
                <a:solidFill>
                  <a:srgbClr val="DBEAFE"/>
                </a:solidFill>
              </a:defRPr>
            </a:pPr>
            <a:r>
              <a:t>Simple plans for SMEs and MSMEs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26060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2240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800">
                <a:solidFill>
                  <a:srgbClr val="2563EB"/>
                </a:solidFill>
              </a:defRPr>
            </a:pPr>
            <a:r>
              <a:t>Startup</a:t>
            </a:r>
          </a:p>
          <a:p>
            <a:pPr>
              <a:spcAft>
                <a:spcPts val="400"/>
              </a:spcAft>
              <a:defRPr b="1" sz="2600">
                <a:solidFill>
                  <a:srgbClr val="0F172A"/>
                </a:solidFill>
              </a:defRPr>
            </a:pPr>
            <a:r>
              <a:t>₹1,999/mo</a:t>
            </a:r>
          </a:p>
          <a:p>
            <a:pPr>
              <a:spcAft>
                <a:spcPts val="400"/>
              </a:spcAft>
              <a:defRPr b="0" sz="600">
                <a:solidFill>
                  <a:srgbClr val="0F172A"/>
                </a:solidFill>
              </a:defRPr>
            </a:pPr>
          </a:p>
          <a:p>
            <a:pPr>
              <a:spcAft>
                <a:spcPts val="400"/>
              </a:spcAft>
              <a:defRPr b="0" sz="1100">
                <a:solidFill>
                  <a:srgbClr val="64748B"/>
                </a:solidFill>
              </a:defRPr>
            </a:pPr>
            <a:r>
              <a:t>✓  150 cases/mo</a:t>
            </a:r>
          </a:p>
          <a:p>
            <a:pPr>
              <a:spcAft>
                <a:spcPts val="400"/>
              </a:spcAft>
              <a:defRPr b="0" sz="1100">
                <a:solidFill>
                  <a:srgbClr val="64748B"/>
                </a:solidFill>
              </a:defRPr>
            </a:pPr>
            <a:r>
              <a:t>✓  1 seat</a:t>
            </a:r>
          </a:p>
          <a:p>
            <a:pPr>
              <a:spcAft>
                <a:spcPts val="400"/>
              </a:spcAft>
              <a:defRPr b="0" sz="1100">
                <a:solidFill>
                  <a:srgbClr val="64748B"/>
                </a:solidFill>
              </a:defRPr>
            </a:pPr>
            <a:r>
              <a:t>✓  Branded page</a:t>
            </a:r>
          </a:p>
          <a:p>
            <a:pPr>
              <a:spcAft>
                <a:spcPts val="400"/>
              </a:spcAft>
              <a:defRPr b="0" sz="1100">
                <a:solidFill>
                  <a:srgbClr val="64748B"/>
                </a:solidFill>
              </a:defRPr>
            </a:pPr>
            <a:r>
              <a:t>✓  Email + 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188720"/>
            <a:ext cx="2606040" cy="4754880"/>
          </a:xfrm>
          <a:prstGeom prst="roundRect">
            <a:avLst/>
          </a:prstGeom>
          <a:solidFill>
            <a:srgbClr val="DBEAFE"/>
          </a:solidFill>
          <a:ln w="317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40480" y="1051560"/>
            <a:ext cx="150876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MOST POPULAR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417320"/>
            <a:ext cx="2240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800">
                <a:solidFill>
                  <a:srgbClr val="2563EB"/>
                </a:solidFill>
              </a:defRPr>
            </a:pPr>
            <a:r>
              <a:t>Scale-up</a:t>
            </a:r>
          </a:p>
          <a:p>
            <a:pPr>
              <a:spcAft>
                <a:spcPts val="400"/>
              </a:spcAft>
              <a:defRPr b="1" sz="2600">
                <a:solidFill>
                  <a:srgbClr val="0F172A"/>
                </a:solidFill>
              </a:defRPr>
            </a:pPr>
            <a:r>
              <a:t>₹3,999/mo</a:t>
            </a:r>
          </a:p>
          <a:p>
            <a:pPr>
              <a:spcAft>
                <a:spcPts val="400"/>
              </a:spcAft>
              <a:defRPr b="0" sz="600">
                <a:solidFill>
                  <a:srgbClr val="0F172A"/>
                </a:solidFill>
              </a:defRPr>
            </a:pPr>
          </a:p>
          <a:p>
            <a:pPr>
              <a:spcAft>
                <a:spcPts val="400"/>
              </a:spcAft>
              <a:defRPr b="0" sz="1100">
                <a:solidFill>
                  <a:srgbClr val="64748B"/>
                </a:solidFill>
              </a:defRPr>
            </a:pPr>
            <a:r>
              <a:t>✓  Unlimited cases</a:t>
            </a:r>
          </a:p>
          <a:p>
            <a:pPr>
              <a:spcAft>
                <a:spcPts val="400"/>
              </a:spcAft>
              <a:defRPr b="0" sz="1100">
                <a:solidFill>
                  <a:srgbClr val="64748B"/>
                </a:solidFill>
              </a:defRPr>
            </a:pPr>
            <a:r>
              <a:t>✓  10 seats</a:t>
            </a:r>
          </a:p>
          <a:p>
            <a:pPr>
              <a:spcAft>
                <a:spcPts val="400"/>
              </a:spcAft>
              <a:defRPr b="0" sz="1100">
                <a:solidFill>
                  <a:srgbClr val="64748B"/>
                </a:solidFill>
              </a:defRPr>
            </a:pPr>
            <a:r>
              <a:t>✓  Email sync</a:t>
            </a:r>
          </a:p>
          <a:p>
            <a:pPr>
              <a:spcAft>
                <a:spcPts val="400"/>
              </a:spcAft>
              <a:defRPr b="0" sz="1100">
                <a:solidFill>
                  <a:srgbClr val="64748B"/>
                </a:solidFill>
              </a:defRPr>
            </a:pPr>
            <a:r>
              <a:t>✓  CSAT + social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26060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417320"/>
            <a:ext cx="2240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800">
                <a:solidFill>
                  <a:srgbClr val="2563EB"/>
                </a:solidFill>
              </a:defRPr>
            </a:pPr>
            <a:r>
              <a:t>Enterprise</a:t>
            </a:r>
          </a:p>
          <a:p>
            <a:pPr>
              <a:spcAft>
                <a:spcPts val="400"/>
              </a:spcAft>
              <a:defRPr b="1" sz="2600">
                <a:solidFill>
                  <a:srgbClr val="0F172A"/>
                </a:solidFill>
              </a:defRPr>
            </a:pPr>
            <a:r>
              <a:t>₹5,999/mo</a:t>
            </a:r>
          </a:p>
          <a:p>
            <a:pPr>
              <a:spcAft>
                <a:spcPts val="400"/>
              </a:spcAft>
              <a:defRPr b="0" sz="600">
                <a:solidFill>
                  <a:srgbClr val="0F172A"/>
                </a:solidFill>
              </a:defRPr>
            </a:pPr>
          </a:p>
          <a:p>
            <a:pPr>
              <a:spcAft>
                <a:spcPts val="400"/>
              </a:spcAft>
              <a:defRPr b="0" sz="1100">
                <a:solidFill>
                  <a:srgbClr val="64748B"/>
                </a:solidFill>
              </a:defRPr>
            </a:pPr>
            <a:r>
              <a:t>✓  Full API</a:t>
            </a:r>
          </a:p>
          <a:p>
            <a:pPr>
              <a:spcAft>
                <a:spcPts val="400"/>
              </a:spcAft>
              <a:defRPr b="0" sz="1100">
                <a:solidFill>
                  <a:srgbClr val="64748B"/>
                </a:solidFill>
              </a:defRPr>
            </a:pPr>
            <a:r>
              <a:t>✓  White-label</a:t>
            </a:r>
          </a:p>
          <a:p>
            <a:pPr>
              <a:spcAft>
                <a:spcPts val="400"/>
              </a:spcAft>
              <a:defRPr b="0" sz="1100">
                <a:solidFill>
                  <a:srgbClr val="64748B"/>
                </a:solidFill>
              </a:defRPr>
            </a:pPr>
            <a:r>
              <a:t>✓  AI triage</a:t>
            </a:r>
          </a:p>
          <a:p>
            <a:pPr>
              <a:spcAft>
                <a:spcPts val="400"/>
              </a:spcAft>
              <a:defRPr b="0" sz="1100">
                <a:solidFill>
                  <a:srgbClr val="64748B"/>
                </a:solidFill>
              </a:defRPr>
            </a:pPr>
            <a:r>
              <a:t>✓  Unlimited seats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Panchaayat — Confidential  | 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Business Model</a:t>
            </a:r>
          </a:p>
          <a:p>
            <a:pPr>
              <a:defRPr sz="1200">
                <a:solidFill>
                  <a:srgbClr val="DBEAFE"/>
                </a:solidFill>
              </a:defRPr>
            </a:pPr>
            <a:r>
              <a:t>Trust-first monetization</a:t>
            </a:r>
          </a:p>
        </p:txBody>
      </p:sp>
      <p:pic>
        <p:nvPicPr>
          <p:cNvPr id="3" name="Picture 2" descr="chart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438912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46320" y="128016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SaaS subscriptions — primary revenue (Startup → Enterprise)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Enterprise API &amp; white-label — banks, insurers, telcos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Contextual ads — legal aid, warranty, refund tools (never bias complaints)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Future: verified analytics, researcher API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Explicitly avoided: pay-to-remove complaints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Panchaayat — Confidential  | 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Competitive Landscape</a:t>
            </a:r>
          </a:p>
          <a:p>
            <a:pPr>
              <a:defRPr sz="1200">
                <a:solidFill>
                  <a:srgbClr val="DBEAFE"/>
                </a:solidFill>
              </a:defRPr>
            </a:pPr>
            <a:r>
              <a:t>No incumbent owns the full resolution loop</a:t>
            </a:r>
          </a:p>
        </p:txBody>
      </p:sp>
      <p:pic>
        <p:nvPicPr>
          <p:cNvPr id="3" name="Picture 2" descr="char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05840"/>
            <a:ext cx="86868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44652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Panchaayat — Confidential  | 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Go-to-Market</a:t>
            </a:r>
          </a:p>
          <a:p>
            <a:pPr>
              <a:defRPr sz="1200">
                <a:solidFill>
                  <a:srgbClr val="DBEAFE"/>
                </a:solidFill>
              </a:defRPr>
            </a:pPr>
            <a:r>
              <a:t>Hyper-local density → national scale</a:t>
            </a:r>
          </a:p>
        </p:txBody>
      </p:sp>
      <p:sp>
        <p:nvSpPr>
          <p:cNvPr id="3" name="Chevron 2"/>
          <p:cNvSpPr/>
          <p:nvPr/>
        </p:nvSpPr>
        <p:spPr>
          <a:xfrm>
            <a:off x="457200" y="1371600"/>
            <a:ext cx="1920240" cy="1645920"/>
          </a:xfrm>
          <a:prstGeom prst="chevron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554480"/>
            <a:ext cx="1645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FFFFFF"/>
                </a:solidFill>
              </a:defRPr>
            </a:pPr>
            <a:r>
              <a:t>Phase 1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Seed Pune/Hyderabad</a:t>
            </a:r>
            <a:br/>
            <a:r>
              <a:t>with demo brands</a:t>
            </a:r>
          </a:p>
        </p:txBody>
      </p:sp>
      <p:sp>
        <p:nvSpPr>
          <p:cNvPr id="5" name="Chevron 4"/>
          <p:cNvSpPr/>
          <p:nvPr/>
        </p:nvSpPr>
        <p:spPr>
          <a:xfrm>
            <a:off x="2606040" y="1371600"/>
            <a:ext cx="1920240" cy="1645920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1554480"/>
            <a:ext cx="1645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FFFFFF"/>
                </a:solidFill>
              </a:defRPr>
            </a:pPr>
            <a:r>
              <a:t>Phase 2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SEO: [Brand] complaints</a:t>
            </a:r>
            <a:br/>
            <a:r>
              <a:t>organic traffic</a:t>
            </a:r>
          </a:p>
        </p:txBody>
      </p:sp>
      <p:sp>
        <p:nvSpPr>
          <p:cNvPr id="7" name="Chevron 6"/>
          <p:cNvSpPr/>
          <p:nvPr/>
        </p:nvSpPr>
        <p:spPr>
          <a:xfrm>
            <a:off x="4754880" y="1371600"/>
            <a:ext cx="1920240" cy="1645920"/>
          </a:xfrm>
          <a:prstGeom prst="chevron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92040" y="1554480"/>
            <a:ext cx="1645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FFFFFF"/>
                </a:solidFill>
              </a:defRPr>
            </a:pPr>
            <a:r>
              <a:t>Phase 3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SME outbound</a:t>
            </a:r>
            <a:br/>
            <a:r>
              <a:t>D2C &amp; appliances</a:t>
            </a:r>
          </a:p>
        </p:txBody>
      </p:sp>
      <p:sp>
        <p:nvSpPr>
          <p:cNvPr id="9" name="Chevron 8"/>
          <p:cNvSpPr/>
          <p:nvPr/>
        </p:nvSpPr>
        <p:spPr>
          <a:xfrm>
            <a:off x="6903720" y="1371600"/>
            <a:ext cx="1920240" cy="1645920"/>
          </a:xfrm>
          <a:prstGeom prst="chevron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1554480"/>
            <a:ext cx="1645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FFFFFF"/>
                </a:solidFill>
              </a:defRPr>
            </a:pPr>
            <a:r>
              <a:t>Phase 4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Enterprise API</a:t>
            </a:r>
            <a:br/>
            <a:r>
              <a:t>banks &amp; insurers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918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Community growth via Me Too, trending feed, recently resolved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14-day free trial for business accounts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Partnerships with consumer bodies (NCH, E-Jagriti) in roadmap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Panchaayat — Confidential  | 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Traction &amp; KPIs</a:t>
            </a:r>
          </a:p>
          <a:p>
            <a:pPr>
              <a:defRPr sz="1200">
                <a:solidFill>
                  <a:srgbClr val="DBEAFE"/>
                </a:solidFill>
              </a:defRPr>
            </a:pPr>
            <a:r>
              <a:t>Where we are today — what we measure</a:t>
            </a:r>
          </a:p>
        </p:txBody>
      </p:sp>
      <p:pic>
        <p:nvPicPr>
          <p:cNvPr id="3" name="Picture 2" descr="chart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8595360" cy="20116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3291840"/>
            <a:ext cx="19202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1737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Brand response</a:t>
            </a:r>
            <a:br/>
            <a:r>
              <a:t>&lt; 7 days</a:t>
            </a:r>
          </a:p>
          <a:p>
            <a:pPr algn="ctr">
              <a:defRPr sz="900">
                <a:solidFill>
                  <a:srgbClr val="F59E0B"/>
                </a:solidFill>
              </a:defRPr>
            </a:pPr>
            <a:r>
              <a:t>North-star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06040" y="3291840"/>
            <a:ext cx="19202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97480" y="3383280"/>
            <a:ext cx="1737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Consumer-confirmed</a:t>
            </a:r>
            <a:br/>
            <a:r>
              <a:t>resolution %</a:t>
            </a:r>
          </a:p>
          <a:p>
            <a:pPr algn="ctr">
              <a:defRPr sz="900">
                <a:solidFill>
                  <a:srgbClr val="F59E0B"/>
                </a:solidFill>
              </a:defRPr>
            </a:pPr>
            <a:r>
              <a:t>North-star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3291840"/>
            <a:ext cx="19202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3383280"/>
            <a:ext cx="1737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Median time-to-</a:t>
            </a:r>
            <a:br/>
            <a:r>
              <a:t>resolution</a:t>
            </a:r>
          </a:p>
          <a:p>
            <a:pPr algn="ctr">
              <a:defRPr sz="900">
                <a:solidFill>
                  <a:srgbClr val="F59E0B"/>
                </a:solidFill>
              </a:defRPr>
            </a:pPr>
            <a:r>
              <a:t>North-star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3291840"/>
            <a:ext cx="19202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3383280"/>
            <a:ext cx="1737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SME trial → paid</a:t>
            </a:r>
            <a:br/>
            <a:r>
              <a:t>conversion</a:t>
            </a:r>
          </a:p>
          <a:p>
            <a:pPr algn="ctr">
              <a:defRPr sz="900">
                <a:solidFill>
                  <a:srgbClr val="F59E0B"/>
                </a:solidFill>
              </a:defRPr>
            </a:pPr>
            <a:r>
              <a:t>GTM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Panchaayat — Confidential  | 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Roadmap</a:t>
            </a:r>
          </a:p>
          <a:p>
            <a:pPr>
              <a:defRPr sz="1200">
                <a:solidFill>
                  <a:srgbClr val="DBEAFE"/>
                </a:solidFill>
              </a:defRPr>
            </a:pPr>
            <a:r>
              <a:t>12–18 month product &amp; GTM plan</a:t>
            </a:r>
          </a:p>
        </p:txBody>
      </p:sp>
      <p:pic>
        <p:nvPicPr>
          <p:cNvPr id="3" name="Picture 2" descr="chart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51560"/>
            <a:ext cx="8686800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44652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Panchaayat — Confidential  | 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Risks &amp; Mitigations</a:t>
            </a:r>
          </a:p>
          <a:p>
            <a:pPr>
              <a:defRPr sz="1200">
                <a:solidFill>
                  <a:srgbClr val="DBEAFE"/>
                </a:solidFill>
              </a:defRPr>
            </a:pPr>
            <a:r>
              <a:t>Honest assessment for investors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2011680" cy="7772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Defamation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280160"/>
            <a:ext cx="6217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→  ToS, evidence reqs, takedown process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194560"/>
            <a:ext cx="2011680" cy="7772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Fake reviews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2286000"/>
            <a:ext cx="6217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→  Verified purchase, moderation queue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200400"/>
            <a:ext cx="2011680" cy="777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Cold 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3291840"/>
            <a:ext cx="6217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→  Hyper-local seeding, SEO pages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4206240"/>
            <a:ext cx="2011680" cy="7772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Brand incentive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4297680"/>
            <a:ext cx="6217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→  Public pages rank on Google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5212080"/>
            <a:ext cx="2011680" cy="7772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SME churn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5303520"/>
            <a:ext cx="6217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→  Email sync lock-in, 30-day guarantee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Panchaayat — Confidential  | 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4E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Ask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8046720" cy="1234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7589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9E0B"/>
                </a:solidFill>
              </a:defRPr>
            </a:pPr>
            <a:r>
              <a:t>₹[X] Cr Seed Round</a:t>
            </a:r>
          </a:p>
          <a:p>
            <a:pPr>
              <a:defRPr sz="1300">
                <a:solidFill>
                  <a:srgbClr val="DBEAFE"/>
                </a:solidFill>
              </a:defRPr>
            </a:pPr>
            <a:r>
              <a:t>Customize before presenting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880360"/>
            <a:ext cx="8046720" cy="1234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063240"/>
            <a:ext cx="7589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563EB"/>
                </a:solidFill>
              </a:defRPr>
            </a:pPr>
            <a:r>
              <a:t>40% GTM &amp; Sales</a:t>
            </a:r>
          </a:p>
          <a:p>
            <a:pPr>
              <a:defRPr sz="1300">
                <a:solidFill>
                  <a:srgbClr val="DBEAFE"/>
                </a:solidFill>
              </a:defRPr>
            </a:pPr>
            <a:r>
              <a:t>30% Engineering  |  20% Ops &amp; Legal  |  10% Buffer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389120"/>
            <a:ext cx="8046720" cy="1234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572000"/>
            <a:ext cx="7589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12-mo Milestones</a:t>
            </a:r>
          </a:p>
          <a:p>
            <a:pPr>
              <a:defRPr sz="1300">
                <a:solidFill>
                  <a:srgbClr val="DBEAFE"/>
                </a:solidFill>
              </a:defRPr>
            </a:pPr>
            <a:r>
              <a:t>100 paying SMEs  •  10K MAU  •  Enterprise 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Customize funding amount before investor meetings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7772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BEAFE"/>
                </a:solidFill>
              </a:defRPr>
            </a:pPr>
            <a:r>
              <a:t>Make it visible. Get it resolved.</a:t>
            </a:r>
          </a:p>
          <a:p>
            <a:pPr>
              <a:defRPr sz="1500">
                <a:solidFill>
                  <a:srgbClr val="DBEAFE"/>
                </a:solidFill>
              </a:defRPr>
            </a:pPr>
          </a:p>
          <a:p>
            <a:pPr>
              <a:defRPr sz="1500">
                <a:solidFill>
                  <a:srgbClr val="DBEAFE"/>
                </a:solidFill>
              </a:defRPr>
            </a:pPr>
            <a:r>
              <a:t>Demo:  [your-vercel-url].vercel.app</a:t>
            </a:r>
          </a:p>
          <a:p>
            <a:pPr>
              <a:defRPr sz="1500">
                <a:solidFill>
                  <a:srgbClr val="DBEAFE"/>
                </a:solidFill>
              </a:defRPr>
            </a:pPr>
            <a:r>
              <a:t>GitHub: github.com/himsinghvi/panchayat</a:t>
            </a:r>
          </a:p>
          <a:p>
            <a:pPr>
              <a:defRPr sz="1500">
                <a:solidFill>
                  <a:srgbClr val="DBEAFE"/>
                </a:solidFill>
              </a:defRPr>
            </a:pPr>
            <a:r>
              <a:t>Email:  [founder@email.com]</a:t>
            </a:r>
          </a:p>
          <a:p>
            <a:pPr>
              <a:defRPr sz="1500">
                <a:solidFill>
                  <a:srgbClr val="DBEAFE"/>
                </a:solidFill>
              </a:defRPr>
            </a:pPr>
          </a:p>
          <a:p>
            <a:pPr>
              <a:defRPr sz="1500">
                <a:solidFill>
                  <a:srgbClr val="DBEAFE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